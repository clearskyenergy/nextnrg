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22960" y="786384"/>
            <a:ext cx="2834640" cy="850392"/>
          </a:xfrm>
          <a:prstGeom prst="rect">
            <a:avLst/>
          </a:prstGeom>
        </p:spPr>
      </p:pic>
      <p:sp>
        <p:nvSpPr>
          <p:cNvPr id="3" name="Shape 0"/>
          <p:cNvSpPr/>
          <p:nvPr/>
        </p:nvSpPr>
        <p:spPr>
          <a:xfrm>
            <a:off x="0" y="3054096"/>
            <a:ext cx="12191695" cy="41148"/>
          </a:xfrm>
          <a:prstGeom prst="rect">
            <a:avLst/>
          </a:prstGeom>
          <a:solidFill>
            <a:srgbClr val="008742"/>
          </a:solidFill>
          <a:ln w="12700">
            <a:solidFill>
              <a:srgbClr val="008742"/>
            </a:solidFill>
            <a:prstDash val="solid"/>
          </a:ln>
        </p:spPr>
      </p:sp>
      <p:sp>
        <p:nvSpPr>
          <p:cNvPr id="4" name="Text 1"/>
          <p:cNvSpPr/>
          <p:nvPr/>
        </p:nvSpPr>
        <p:spPr>
          <a:xfrm>
            <a:off x="822960" y="2057400"/>
            <a:ext cx="10515600" cy="310896"/>
          </a:xfrm>
          <a:prstGeom prst="rect">
            <a:avLst/>
          </a:prstGeom>
          <a:noFill/>
          <a:ln/>
        </p:spPr>
        <p:txBody>
          <a:bodyPr wrap="square" rtlCol="0" anchor="ctr"/>
          <a:lstStyle/>
          <a:p>
            <a:pPr indent="0" marL="0">
              <a:buNone/>
            </a:pPr>
            <a:r>
              <a:rPr lang="en-US" sz="1150" b="1" spc="220" kern="0" dirty="0">
                <a:solidFill>
                  <a:srgbClr val="008742"/>
                </a:solidFill>
                <a:latin typeface="Consolas" pitchFamily="34" charset="0"/>
                <a:ea typeface="Consolas" pitchFamily="34" charset="-122"/>
                <a:cs typeface="Consolas" pitchFamily="34" charset="-120"/>
              </a:rPr>
              <a:t>DISTRIBUTED ENERGY RESOURCE · GENERATION AND STORAGE ANALYSIS</a:t>
            </a:r>
            <a:endParaRPr lang="en-US" sz="1150" dirty="0"/>
          </a:p>
        </p:txBody>
      </p:sp>
      <p:sp>
        <p:nvSpPr>
          <p:cNvPr id="5" name="Text 2"/>
          <p:cNvSpPr/>
          <p:nvPr/>
        </p:nvSpPr>
        <p:spPr>
          <a:xfrm>
            <a:off x="822960" y="2377440"/>
            <a:ext cx="10515600" cy="658368"/>
          </a:xfrm>
          <a:prstGeom prst="rect">
            <a:avLst/>
          </a:prstGeom>
          <a:noFill/>
          <a:ln/>
        </p:spPr>
        <p:txBody>
          <a:bodyPr wrap="square" rtlCol="0" anchor="ctr"/>
          <a:lstStyle/>
          <a:p>
            <a:pPr indent="0" marL="0">
              <a:buNone/>
            </a:pPr>
            <a:r>
              <a:rPr lang="en-US" sz="3800" b="1" dirty="0">
                <a:solidFill>
                  <a:srgbClr val="1B201D"/>
                </a:solidFill>
                <a:latin typeface="Segoe UI" pitchFamily="34" charset="0"/>
                <a:ea typeface="Segoe UI" pitchFamily="34" charset="-122"/>
                <a:cs typeface="Segoe UI" pitchFamily="34" charset="-120"/>
              </a:rPr>
              <a:t>1901 Convention Ctr Dr, Miami Beach, FL</a:t>
            </a:r>
            <a:endParaRPr lang="en-US" sz="3800" dirty="0"/>
          </a:p>
        </p:txBody>
      </p:sp>
      <p:sp>
        <p:nvSpPr>
          <p:cNvPr id="6" name="Text 3"/>
          <p:cNvSpPr/>
          <p:nvPr/>
        </p:nvSpPr>
        <p:spPr>
          <a:xfrm>
            <a:off x="822960" y="3246120"/>
            <a:ext cx="10515600" cy="365760"/>
          </a:xfrm>
          <a:prstGeom prst="rect">
            <a:avLst/>
          </a:prstGeom>
          <a:noFill/>
          <a:ln/>
        </p:spPr>
        <p:txBody>
          <a:bodyPr wrap="square" rtlCol="0" anchor="ctr"/>
          <a:lstStyle/>
          <a:p>
            <a:pPr indent="0" marL="0">
              <a:buNone/>
            </a:pPr>
            <a:r>
              <a:rPr lang="en-US" sz="1400" dirty="0">
                <a:solidFill>
                  <a:srgbClr val="5A7266"/>
                </a:solidFill>
                <a:latin typeface="Segoe UI" pitchFamily="34" charset="0"/>
                <a:ea typeface="Segoe UI" pitchFamily="34" charset="-122"/>
                <a:cs typeface="Segoe UI" pitchFamily="34" charset="-120"/>
              </a:rPr>
              <a:t>25.79500°, -80.14000°   ·   1.26 MW-DC across 2 arrays   ·   1.00 MW / 4 MWh storage</a:t>
            </a:r>
            <a:endParaRPr lang="en-US" sz="1400" dirty="0"/>
          </a:p>
        </p:txBody>
      </p:sp>
      <p:sp>
        <p:nvSpPr>
          <p:cNvPr id="7" name="Shape 4"/>
          <p:cNvSpPr/>
          <p:nvPr/>
        </p:nvSpPr>
        <p:spPr>
          <a:xfrm>
            <a:off x="822960" y="3794760"/>
            <a:ext cx="5120640" cy="402336"/>
          </a:xfrm>
          <a:prstGeom prst="roundRect">
            <a:avLst>
              <a:gd name="adj" fmla="val 18182"/>
            </a:avLst>
          </a:prstGeom>
          <a:solidFill>
            <a:srgbClr val="F7F9F8"/>
          </a:solidFill>
          <a:ln w="12700">
            <a:solidFill>
              <a:srgbClr val="EA6406"/>
            </a:solidFill>
            <a:prstDash val="solid"/>
          </a:ln>
        </p:spPr>
      </p:sp>
      <p:sp>
        <p:nvSpPr>
          <p:cNvPr id="8" name="Text 5"/>
          <p:cNvSpPr/>
          <p:nvPr/>
        </p:nvSpPr>
        <p:spPr>
          <a:xfrm>
            <a:off x="960120" y="3794760"/>
            <a:ext cx="4846320" cy="402336"/>
          </a:xfrm>
          <a:prstGeom prst="rect">
            <a:avLst/>
          </a:prstGeom>
          <a:noFill/>
          <a:ln/>
        </p:spPr>
        <p:txBody>
          <a:bodyPr wrap="square" rtlCol="0" anchor="ctr"/>
          <a:lstStyle/>
          <a:p>
            <a:pPr indent="0" marL="0">
              <a:buNone/>
            </a:pPr>
            <a:r>
              <a:rPr lang="en-US" sz="1050" b="1" dirty="0">
                <a:solidFill>
                  <a:srgbClr val="EA6406"/>
                </a:solidFill>
                <a:latin typeface="Segoe UI" pitchFamily="34" charset="0"/>
                <a:ea typeface="Segoe UI" pitchFamily="34" charset="-122"/>
                <a:cs typeface="Segoe UI" pitchFamily="34" charset="-120"/>
              </a:rPr>
              <a:t>Offline estimate — no site weather data was reached</a:t>
            </a:r>
            <a:endParaRPr lang="en-US" sz="1050" dirty="0"/>
          </a:p>
        </p:txBody>
      </p:sp>
      <p:sp>
        <p:nvSpPr>
          <p:cNvPr id="9" name="Text 6"/>
          <p:cNvSpPr/>
          <p:nvPr/>
        </p:nvSpPr>
        <p:spPr>
          <a:xfrm>
            <a:off x="822960" y="6172200"/>
            <a:ext cx="10515600" cy="310896"/>
          </a:xfrm>
          <a:prstGeom prst="rect">
            <a:avLst/>
          </a:prstGeom>
          <a:noFill/>
          <a:ln/>
        </p:spPr>
        <p:txBody>
          <a:bodyPr wrap="square" rtlCol="0" anchor="ctr"/>
          <a:lstStyle/>
          <a:p>
            <a:pPr indent="0" marL="0">
              <a:buNone/>
            </a:pPr>
            <a:r>
              <a:rPr lang="en-US" sz="1000" dirty="0">
                <a:solidFill>
                  <a:srgbClr val="849A8F"/>
                </a:solidFill>
                <a:latin typeface="Segoe UI" pitchFamily="34" charset="0"/>
                <a:ea typeface="Segoe UI" pitchFamily="34" charset="-122"/>
                <a:cs typeface="Segoe UI" pitchFamily="34" charset="-120"/>
              </a:rPr>
              <a:t>NextNRG   ·   August 27,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41248"/>
          </a:xfrm>
          <a:prstGeom prst="rect">
            <a:avLst/>
          </a:prstGeom>
          <a:solidFill>
            <a:srgbClr val="F7F9F8"/>
          </a:solidFill>
          <a:ln w="12700">
            <a:solidFill>
              <a:srgbClr val="F7F9F8"/>
            </a:solidFill>
            <a:prstDash val="solid"/>
          </a:ln>
        </p:spPr>
      </p:sp>
      <p:sp>
        <p:nvSpPr>
          <p:cNvPr id="3" name="Shape 1"/>
          <p:cNvSpPr/>
          <p:nvPr/>
        </p:nvSpPr>
        <p:spPr>
          <a:xfrm>
            <a:off x="0" y="841248"/>
            <a:ext cx="12191695" cy="25603"/>
          </a:xfrm>
          <a:prstGeom prst="rect">
            <a:avLst/>
          </a:prstGeom>
          <a:solidFill>
            <a:srgbClr val="008742"/>
          </a:solidFill>
          <a:ln w="12700">
            <a:solidFill>
              <a:srgbClr val="008742"/>
            </a:solidFill>
            <a:prstDash val="solid"/>
          </a:ln>
        </p:spPr>
      </p:sp>
      <p:sp>
        <p:nvSpPr>
          <p:cNvPr id="4" name="Text 2"/>
          <p:cNvSpPr/>
          <p:nvPr/>
        </p:nvSpPr>
        <p:spPr>
          <a:xfrm>
            <a:off x="457200" y="91440"/>
            <a:ext cx="11338560" cy="237744"/>
          </a:xfrm>
          <a:prstGeom prst="rect">
            <a:avLst/>
          </a:prstGeom>
          <a:noFill/>
          <a:ln/>
        </p:spPr>
        <p:txBody>
          <a:bodyPr wrap="square" rtlCol="0" anchor="ctr"/>
          <a:lstStyle/>
          <a:p>
            <a:pPr indent="0" marL="0">
              <a:buNone/>
            </a:pPr>
            <a:r>
              <a:rPr lang="en-US" sz="1000" b="1" spc="160" kern="0" dirty="0">
                <a:solidFill>
                  <a:srgbClr val="008742"/>
                </a:solidFill>
                <a:latin typeface="Consolas" pitchFamily="34" charset="0"/>
                <a:ea typeface="Consolas" pitchFamily="34" charset="-122"/>
                <a:cs typeface="Consolas" pitchFamily="34" charset="-120"/>
              </a:rPr>
              <a:t>RESULT</a:t>
            </a:r>
            <a:endParaRPr lang="en-US" sz="1000" dirty="0"/>
          </a:p>
        </p:txBody>
      </p:sp>
      <p:sp>
        <p:nvSpPr>
          <p:cNvPr id="5" name="Text 3"/>
          <p:cNvSpPr/>
          <p:nvPr/>
        </p:nvSpPr>
        <p:spPr>
          <a:xfrm>
            <a:off x="457200" y="310896"/>
            <a:ext cx="9966960" cy="457200"/>
          </a:xfrm>
          <a:prstGeom prst="rect">
            <a:avLst/>
          </a:prstGeom>
          <a:noFill/>
          <a:ln/>
        </p:spPr>
        <p:txBody>
          <a:bodyPr wrap="square" rtlCol="0" anchor="ctr"/>
          <a:lstStyle/>
          <a:p>
            <a:pPr indent="0" marL="0">
              <a:buNone/>
            </a:pPr>
            <a:r>
              <a:rPr lang="en-US" sz="2300" b="1" dirty="0">
                <a:solidFill>
                  <a:srgbClr val="1B201D"/>
                </a:solidFill>
                <a:latin typeface="Segoe UI" pitchFamily="34" charset="0"/>
                <a:ea typeface="Segoe UI" pitchFamily="34" charset="-122"/>
                <a:cs typeface="Segoe UI" pitchFamily="34" charset="-120"/>
              </a:rPr>
              <a:t>Annual generation</a:t>
            </a:r>
            <a:endParaRPr lang="en-US" sz="2300" dirty="0"/>
          </a:p>
        </p:txBody>
      </p:sp>
      <p:pic>
        <p:nvPicPr>
          <p:cNvPr id="6" name="Image 0" descr="preencoded.png">    </p:cNvPr>
          <p:cNvPicPr>
            <a:picLocks noChangeAspect="1"/>
          </p:cNvPicPr>
          <p:nvPr/>
        </p:nvPicPr>
        <p:blipFill>
          <a:blip r:embed="rId1"/>
          <a:stretch>
            <a:fillRect/>
          </a:stretch>
        </p:blipFill>
        <p:spPr>
          <a:xfrm>
            <a:off x="10561320" y="245059"/>
            <a:ext cx="1170432" cy="351130"/>
          </a:xfrm>
          <a:prstGeom prst="rect">
            <a:avLst/>
          </a:prstGeom>
        </p:spPr>
      </p:pic>
      <p:sp>
        <p:nvSpPr>
          <p:cNvPr id="7" name="Text 4"/>
          <p:cNvSpPr/>
          <p:nvPr/>
        </p:nvSpPr>
        <p:spPr>
          <a:xfrm>
            <a:off x="457200" y="6473952"/>
            <a:ext cx="9601200" cy="274320"/>
          </a:xfrm>
          <a:prstGeom prst="rect">
            <a:avLst/>
          </a:prstGeom>
          <a:noFill/>
          <a:ln/>
        </p:spPr>
        <p:txBody>
          <a:bodyPr wrap="square" rtlCol="0" anchor="ctr"/>
          <a:lstStyle/>
          <a:p>
            <a:pPr indent="0" marL="0">
              <a:buNone/>
            </a:pPr>
            <a:r>
              <a:rPr lang="en-US" sz="850" dirty="0">
                <a:solidFill>
                  <a:srgbClr val="849A8F"/>
                </a:solidFill>
                <a:latin typeface="Segoe UI" pitchFamily="34" charset="0"/>
                <a:ea typeface="Segoe UI" pitchFamily="34" charset="-122"/>
                <a:cs typeface="Segoe UI" pitchFamily="34" charset="-120"/>
              </a:rPr>
              <a:t>NextNRG   ·   1901 Convention Ctr Dr, Miami Beach, FL   ·   8/27/2026</a:t>
            </a:r>
            <a:endParaRPr lang="en-US" sz="850" dirty="0"/>
          </a:p>
        </p:txBody>
      </p:sp>
      <p:sp>
        <p:nvSpPr>
          <p:cNvPr id="8" name="Text 5"/>
          <p:cNvSpPr/>
          <p:nvPr/>
        </p:nvSpPr>
        <p:spPr>
          <a:xfrm>
            <a:off x="11338560" y="6473952"/>
            <a:ext cx="457200" cy="274320"/>
          </a:xfrm>
          <a:prstGeom prst="rect">
            <a:avLst/>
          </a:prstGeom>
          <a:noFill/>
          <a:ln/>
        </p:spPr>
        <p:txBody>
          <a:bodyPr wrap="square" rtlCol="0" anchor="ctr"/>
          <a:lstStyle/>
          <a:p>
            <a:pPr algn="r" indent="0" marL="0">
              <a:buNone/>
            </a:pPr>
            <a:r>
              <a:rPr lang="en-US" sz="850" dirty="0">
                <a:solidFill>
                  <a:srgbClr val="849A8F"/>
                </a:solidFill>
                <a:latin typeface="Segoe UI" pitchFamily="34" charset="0"/>
                <a:ea typeface="Segoe UI" pitchFamily="34" charset="-122"/>
                <a:cs typeface="Segoe UI" pitchFamily="34" charset="-120"/>
              </a:rPr>
              <a:t>1</a:t>
            </a:r>
            <a:endParaRPr lang="en-US" sz="850" dirty="0"/>
          </a:p>
        </p:txBody>
      </p:sp>
      <p:sp>
        <p:nvSpPr>
          <p:cNvPr id="9" name="Shape 6"/>
          <p:cNvSpPr/>
          <p:nvPr/>
        </p:nvSpPr>
        <p:spPr>
          <a:xfrm>
            <a:off x="457200" y="1143000"/>
            <a:ext cx="2761488" cy="1207008"/>
          </a:xfrm>
          <a:prstGeom prst="roundRect">
            <a:avLst>
              <a:gd name="adj" fmla="val 4545"/>
            </a:avLst>
          </a:prstGeom>
          <a:solidFill>
            <a:srgbClr val="F7F9F8"/>
          </a:solidFill>
          <a:ln w="12700">
            <a:solidFill>
              <a:srgbClr val="DFE8E3"/>
            </a:solidFill>
            <a:prstDash val="solid"/>
          </a:ln>
        </p:spPr>
      </p:sp>
      <p:sp>
        <p:nvSpPr>
          <p:cNvPr id="10" name="Text 7"/>
          <p:cNvSpPr/>
          <p:nvPr/>
        </p:nvSpPr>
        <p:spPr>
          <a:xfrm>
            <a:off x="621792" y="1252728"/>
            <a:ext cx="2432304" cy="219456"/>
          </a:xfrm>
          <a:prstGeom prst="rect">
            <a:avLst/>
          </a:prstGeom>
          <a:noFill/>
          <a:ln/>
        </p:spPr>
        <p:txBody>
          <a:bodyPr wrap="square" rtlCol="0" anchor="ctr"/>
          <a:lstStyle/>
          <a:p>
            <a:pPr indent="0" marL="0">
              <a:buNone/>
            </a:pPr>
            <a:r>
              <a:rPr lang="en-US" sz="850" b="1" spc="110" kern="0" dirty="0">
                <a:solidFill>
                  <a:srgbClr val="5A7266"/>
                </a:solidFill>
                <a:latin typeface="Segoe UI" pitchFamily="34" charset="0"/>
                <a:ea typeface="Segoe UI" pitchFamily="34" charset="-122"/>
                <a:cs typeface="Segoe UI" pitchFamily="34" charset="-120"/>
              </a:rPr>
              <a:t>ANNUAL OUTPUT</a:t>
            </a:r>
            <a:endParaRPr lang="en-US" sz="850" dirty="0"/>
          </a:p>
        </p:txBody>
      </p:sp>
      <p:sp>
        <p:nvSpPr>
          <p:cNvPr id="11" name="Text 8"/>
          <p:cNvSpPr/>
          <p:nvPr/>
        </p:nvSpPr>
        <p:spPr>
          <a:xfrm>
            <a:off x="621792" y="1472184"/>
            <a:ext cx="2432304" cy="457200"/>
          </a:xfrm>
          <a:prstGeom prst="rect">
            <a:avLst/>
          </a:prstGeom>
          <a:noFill/>
          <a:ln/>
        </p:spPr>
        <p:txBody>
          <a:bodyPr wrap="square" rtlCol="0" anchor="ctr"/>
          <a:lstStyle/>
          <a:p>
            <a:pPr indent="0" marL="0">
              <a:buNone/>
            </a:pPr>
            <a:r>
              <a:rPr lang="en-US" sz="2100" b="1" dirty="0">
                <a:solidFill>
                  <a:srgbClr val="B68403"/>
                </a:solidFill>
                <a:latin typeface="Segoe UI" pitchFamily="34" charset="0"/>
                <a:ea typeface="Segoe UI" pitchFamily="34" charset="-122"/>
                <a:cs typeface="Segoe UI" pitchFamily="34" charset="-120"/>
              </a:rPr>
              <a:t>1.87 GWh</a:t>
            </a:r>
            <a:endParaRPr lang="en-US" sz="2100" dirty="0"/>
          </a:p>
        </p:txBody>
      </p:sp>
      <p:sp>
        <p:nvSpPr>
          <p:cNvPr id="12" name="Text 9"/>
          <p:cNvSpPr/>
          <p:nvPr/>
        </p:nvSpPr>
        <p:spPr>
          <a:xfrm>
            <a:off x="621792" y="1929384"/>
            <a:ext cx="2432304" cy="347472"/>
          </a:xfrm>
          <a:prstGeom prst="rect">
            <a:avLst/>
          </a:prstGeom>
          <a:noFill/>
          <a:ln/>
        </p:spPr>
        <p:txBody>
          <a:bodyPr wrap="square" rtlCol="0" anchor="t"/>
          <a:lstStyle/>
          <a:p>
            <a:pPr indent="0" marL="0">
              <a:buNone/>
            </a:pPr>
            <a:r>
              <a:rPr lang="en-US" sz="850" dirty="0">
                <a:solidFill>
                  <a:srgbClr val="849A8F"/>
                </a:solidFill>
                <a:latin typeface="Segoe UI" pitchFamily="34" charset="0"/>
                <a:ea typeface="Segoe UI" pitchFamily="34" charset="-122"/>
                <a:cs typeface="Segoe UI" pitchFamily="34" charset="-120"/>
              </a:rPr>
              <a:t>2 arrays at 1.26 MW-DC</a:t>
            </a:r>
            <a:endParaRPr lang="en-US" sz="850" dirty="0"/>
          </a:p>
        </p:txBody>
      </p:sp>
      <p:sp>
        <p:nvSpPr>
          <p:cNvPr id="13" name="Shape 10"/>
          <p:cNvSpPr/>
          <p:nvPr/>
        </p:nvSpPr>
        <p:spPr>
          <a:xfrm>
            <a:off x="3401568" y="1143000"/>
            <a:ext cx="2761488" cy="1207008"/>
          </a:xfrm>
          <a:prstGeom prst="roundRect">
            <a:avLst>
              <a:gd name="adj" fmla="val 4545"/>
            </a:avLst>
          </a:prstGeom>
          <a:solidFill>
            <a:srgbClr val="F7F9F8"/>
          </a:solidFill>
          <a:ln w="12700">
            <a:solidFill>
              <a:srgbClr val="DFE8E3"/>
            </a:solidFill>
            <a:prstDash val="solid"/>
          </a:ln>
        </p:spPr>
      </p:sp>
      <p:sp>
        <p:nvSpPr>
          <p:cNvPr id="14" name="Text 11"/>
          <p:cNvSpPr/>
          <p:nvPr/>
        </p:nvSpPr>
        <p:spPr>
          <a:xfrm>
            <a:off x="3566160" y="1252728"/>
            <a:ext cx="2432304" cy="219456"/>
          </a:xfrm>
          <a:prstGeom prst="rect">
            <a:avLst/>
          </a:prstGeom>
          <a:noFill/>
          <a:ln/>
        </p:spPr>
        <p:txBody>
          <a:bodyPr wrap="square" rtlCol="0" anchor="ctr"/>
          <a:lstStyle/>
          <a:p>
            <a:pPr indent="0" marL="0">
              <a:buNone/>
            </a:pPr>
            <a:r>
              <a:rPr lang="en-US" sz="850" b="1" spc="110" kern="0" dirty="0">
                <a:solidFill>
                  <a:srgbClr val="5A7266"/>
                </a:solidFill>
                <a:latin typeface="Segoe UI" pitchFamily="34" charset="0"/>
                <a:ea typeface="Segoe UI" pitchFamily="34" charset="-122"/>
                <a:cs typeface="Segoe UI" pitchFamily="34" charset="-120"/>
              </a:rPr>
              <a:t>SPECIFIC YIELD</a:t>
            </a:r>
            <a:endParaRPr lang="en-US" sz="850" dirty="0"/>
          </a:p>
        </p:txBody>
      </p:sp>
      <p:sp>
        <p:nvSpPr>
          <p:cNvPr id="15" name="Text 12"/>
          <p:cNvSpPr/>
          <p:nvPr/>
        </p:nvSpPr>
        <p:spPr>
          <a:xfrm>
            <a:off x="3566160" y="1472184"/>
            <a:ext cx="2432304" cy="457200"/>
          </a:xfrm>
          <a:prstGeom prst="rect">
            <a:avLst/>
          </a:prstGeom>
          <a:noFill/>
          <a:ln/>
        </p:spPr>
        <p:txBody>
          <a:bodyPr wrap="square" rtlCol="0" anchor="ctr"/>
          <a:lstStyle/>
          <a:p>
            <a:pPr indent="0" marL="0">
              <a:buNone/>
            </a:pPr>
            <a:r>
              <a:rPr lang="en-US" sz="2100" b="1" dirty="0">
                <a:solidFill>
                  <a:srgbClr val="1B201D"/>
                </a:solidFill>
                <a:latin typeface="Segoe UI" pitchFamily="34" charset="0"/>
                <a:ea typeface="Segoe UI" pitchFamily="34" charset="-122"/>
                <a:cs typeface="Segoe UI" pitchFamily="34" charset="-120"/>
              </a:rPr>
              <a:t>1,484 kWh/kW</a:t>
            </a:r>
            <a:endParaRPr lang="en-US" sz="2100" dirty="0"/>
          </a:p>
        </p:txBody>
      </p:sp>
      <p:sp>
        <p:nvSpPr>
          <p:cNvPr id="16" name="Text 13"/>
          <p:cNvSpPr/>
          <p:nvPr/>
        </p:nvSpPr>
        <p:spPr>
          <a:xfrm>
            <a:off x="3566160" y="1929384"/>
            <a:ext cx="2432304" cy="347472"/>
          </a:xfrm>
          <a:prstGeom prst="rect">
            <a:avLst/>
          </a:prstGeom>
          <a:noFill/>
          <a:ln/>
        </p:spPr>
        <p:txBody>
          <a:bodyPr wrap="square" rtlCol="0" anchor="t"/>
          <a:lstStyle/>
          <a:p>
            <a:pPr indent="0" marL="0">
              <a:buNone/>
            </a:pPr>
            <a:r>
              <a:rPr lang="en-US" sz="850" dirty="0">
                <a:solidFill>
                  <a:srgbClr val="849A8F"/>
                </a:solidFill>
                <a:latin typeface="Segoe UI" pitchFamily="34" charset="0"/>
                <a:ea typeface="Segoe UI" pitchFamily="34" charset="-122"/>
                <a:cs typeface="Segoe UI" pitchFamily="34" charset="-120"/>
              </a:rPr>
              <a:t>per kW-DC installed, per year</a:t>
            </a:r>
            <a:endParaRPr lang="en-US" sz="850" dirty="0"/>
          </a:p>
        </p:txBody>
      </p:sp>
      <p:sp>
        <p:nvSpPr>
          <p:cNvPr id="17" name="Shape 14"/>
          <p:cNvSpPr/>
          <p:nvPr/>
        </p:nvSpPr>
        <p:spPr>
          <a:xfrm>
            <a:off x="6345936" y="1143000"/>
            <a:ext cx="2761488" cy="1207008"/>
          </a:xfrm>
          <a:prstGeom prst="roundRect">
            <a:avLst>
              <a:gd name="adj" fmla="val 4545"/>
            </a:avLst>
          </a:prstGeom>
          <a:solidFill>
            <a:srgbClr val="F7F9F8"/>
          </a:solidFill>
          <a:ln w="12700">
            <a:solidFill>
              <a:srgbClr val="DFE8E3"/>
            </a:solidFill>
            <a:prstDash val="solid"/>
          </a:ln>
        </p:spPr>
      </p:sp>
      <p:sp>
        <p:nvSpPr>
          <p:cNvPr id="18" name="Text 15"/>
          <p:cNvSpPr/>
          <p:nvPr/>
        </p:nvSpPr>
        <p:spPr>
          <a:xfrm>
            <a:off x="6510528" y="1252728"/>
            <a:ext cx="2432304" cy="219456"/>
          </a:xfrm>
          <a:prstGeom prst="rect">
            <a:avLst/>
          </a:prstGeom>
          <a:noFill/>
          <a:ln/>
        </p:spPr>
        <p:txBody>
          <a:bodyPr wrap="square" rtlCol="0" anchor="ctr"/>
          <a:lstStyle/>
          <a:p>
            <a:pPr indent="0" marL="0">
              <a:buNone/>
            </a:pPr>
            <a:r>
              <a:rPr lang="en-US" sz="850" b="1" spc="110" kern="0" dirty="0">
                <a:solidFill>
                  <a:srgbClr val="5A7266"/>
                </a:solidFill>
                <a:latin typeface="Segoe UI" pitchFamily="34" charset="0"/>
                <a:ea typeface="Segoe UI" pitchFamily="34" charset="-122"/>
                <a:cs typeface="Segoe UI" pitchFamily="34" charset="-120"/>
              </a:rPr>
              <a:t>CAPACITY FACTOR</a:t>
            </a:r>
            <a:endParaRPr lang="en-US" sz="850" dirty="0"/>
          </a:p>
        </p:txBody>
      </p:sp>
      <p:sp>
        <p:nvSpPr>
          <p:cNvPr id="19" name="Text 16"/>
          <p:cNvSpPr/>
          <p:nvPr/>
        </p:nvSpPr>
        <p:spPr>
          <a:xfrm>
            <a:off x="6510528" y="1472184"/>
            <a:ext cx="2432304" cy="457200"/>
          </a:xfrm>
          <a:prstGeom prst="rect">
            <a:avLst/>
          </a:prstGeom>
          <a:noFill/>
          <a:ln/>
        </p:spPr>
        <p:txBody>
          <a:bodyPr wrap="square" rtlCol="0" anchor="ctr"/>
          <a:lstStyle/>
          <a:p>
            <a:pPr indent="0" marL="0">
              <a:buNone/>
            </a:pPr>
            <a:r>
              <a:rPr lang="en-US" sz="2100" b="1" dirty="0">
                <a:solidFill>
                  <a:srgbClr val="1B201D"/>
                </a:solidFill>
                <a:latin typeface="Segoe UI" pitchFamily="34" charset="0"/>
                <a:ea typeface="Segoe UI" pitchFamily="34" charset="-122"/>
                <a:cs typeface="Segoe UI" pitchFamily="34" charset="-120"/>
              </a:rPr>
              <a:t>21.2%</a:t>
            </a:r>
            <a:endParaRPr lang="en-US" sz="2100" dirty="0"/>
          </a:p>
        </p:txBody>
      </p:sp>
      <p:sp>
        <p:nvSpPr>
          <p:cNvPr id="20" name="Text 17"/>
          <p:cNvSpPr/>
          <p:nvPr/>
        </p:nvSpPr>
        <p:spPr>
          <a:xfrm>
            <a:off x="6510528" y="1929384"/>
            <a:ext cx="2432304" cy="347472"/>
          </a:xfrm>
          <a:prstGeom prst="rect">
            <a:avLst/>
          </a:prstGeom>
          <a:noFill/>
          <a:ln/>
        </p:spPr>
        <p:txBody>
          <a:bodyPr wrap="square" rtlCol="0" anchor="t"/>
          <a:lstStyle/>
          <a:p>
            <a:pPr indent="0" marL="0">
              <a:buNone/>
            </a:pPr>
            <a:r>
              <a:rPr lang="en-US" sz="850" dirty="0">
                <a:solidFill>
                  <a:srgbClr val="849A8F"/>
                </a:solidFill>
                <a:latin typeface="Segoe UI" pitchFamily="34" charset="0"/>
                <a:ea typeface="Segoe UI" pitchFamily="34" charset="-122"/>
                <a:cs typeface="Segoe UI" pitchFamily="34" charset="-120"/>
              </a:rPr>
              <a:t>against 1.01 MW-AC · 16.9% on DC</a:t>
            </a:r>
            <a:endParaRPr lang="en-US" sz="850" dirty="0"/>
          </a:p>
        </p:txBody>
      </p:sp>
      <p:sp>
        <p:nvSpPr>
          <p:cNvPr id="21" name="Shape 18"/>
          <p:cNvSpPr/>
          <p:nvPr/>
        </p:nvSpPr>
        <p:spPr>
          <a:xfrm>
            <a:off x="9290304" y="1143000"/>
            <a:ext cx="2450592" cy="1207008"/>
          </a:xfrm>
          <a:prstGeom prst="roundRect">
            <a:avLst>
              <a:gd name="adj" fmla="val 4545"/>
            </a:avLst>
          </a:prstGeom>
          <a:solidFill>
            <a:srgbClr val="F7F9F8"/>
          </a:solidFill>
          <a:ln w="12700">
            <a:solidFill>
              <a:srgbClr val="DFE8E3"/>
            </a:solidFill>
            <a:prstDash val="solid"/>
          </a:ln>
        </p:spPr>
      </p:sp>
      <p:sp>
        <p:nvSpPr>
          <p:cNvPr id="22" name="Text 19"/>
          <p:cNvSpPr/>
          <p:nvPr/>
        </p:nvSpPr>
        <p:spPr>
          <a:xfrm>
            <a:off x="9454896" y="1252728"/>
            <a:ext cx="2121408" cy="219456"/>
          </a:xfrm>
          <a:prstGeom prst="rect">
            <a:avLst/>
          </a:prstGeom>
          <a:noFill/>
          <a:ln/>
        </p:spPr>
        <p:txBody>
          <a:bodyPr wrap="square" rtlCol="0" anchor="ctr"/>
          <a:lstStyle/>
          <a:p>
            <a:pPr indent="0" marL="0">
              <a:buNone/>
            </a:pPr>
            <a:r>
              <a:rPr lang="en-US" sz="850" b="1" spc="110" kern="0" dirty="0">
                <a:solidFill>
                  <a:srgbClr val="5A7266"/>
                </a:solidFill>
                <a:latin typeface="Segoe UI" pitchFamily="34" charset="0"/>
                <a:ea typeface="Segoe UI" pitchFamily="34" charset="-122"/>
                <a:cs typeface="Segoe UI" pitchFamily="34" charset="-120"/>
              </a:rPr>
              <a:t>PEAK OUTPUT</a:t>
            </a:r>
            <a:endParaRPr lang="en-US" sz="850" dirty="0"/>
          </a:p>
        </p:txBody>
      </p:sp>
      <p:sp>
        <p:nvSpPr>
          <p:cNvPr id="23" name="Text 20"/>
          <p:cNvSpPr/>
          <p:nvPr/>
        </p:nvSpPr>
        <p:spPr>
          <a:xfrm>
            <a:off x="9454896" y="1472184"/>
            <a:ext cx="2121408" cy="457200"/>
          </a:xfrm>
          <a:prstGeom prst="rect">
            <a:avLst/>
          </a:prstGeom>
          <a:noFill/>
          <a:ln/>
        </p:spPr>
        <p:txBody>
          <a:bodyPr wrap="square" rtlCol="0" anchor="ctr"/>
          <a:lstStyle/>
          <a:p>
            <a:pPr indent="0" marL="0">
              <a:buNone/>
            </a:pPr>
            <a:r>
              <a:rPr lang="en-US" sz="2100" b="1" dirty="0">
                <a:solidFill>
                  <a:srgbClr val="1B201D"/>
                </a:solidFill>
                <a:latin typeface="Segoe UI" pitchFamily="34" charset="0"/>
                <a:ea typeface="Segoe UI" pitchFamily="34" charset="-122"/>
                <a:cs typeface="Segoe UI" pitchFamily="34" charset="-120"/>
              </a:rPr>
              <a:t>1.01 MW</a:t>
            </a:r>
            <a:endParaRPr lang="en-US" sz="2100" dirty="0"/>
          </a:p>
        </p:txBody>
      </p:sp>
      <p:sp>
        <p:nvSpPr>
          <p:cNvPr id="24" name="Text 21"/>
          <p:cNvSpPr/>
          <p:nvPr/>
        </p:nvSpPr>
        <p:spPr>
          <a:xfrm>
            <a:off x="9454896" y="1929384"/>
            <a:ext cx="2121408" cy="347472"/>
          </a:xfrm>
          <a:prstGeom prst="rect">
            <a:avLst/>
          </a:prstGeom>
          <a:noFill/>
          <a:ln/>
        </p:spPr>
        <p:txBody>
          <a:bodyPr wrap="square" rtlCol="0" anchor="t"/>
          <a:lstStyle/>
          <a:p>
            <a:pPr indent="0" marL="0">
              <a:buNone/>
            </a:pPr>
            <a:r>
              <a:rPr lang="en-US" sz="850" dirty="0">
                <a:solidFill>
                  <a:srgbClr val="849A8F"/>
                </a:solidFill>
                <a:latin typeface="Segoe UI" pitchFamily="34" charset="0"/>
                <a:ea typeface="Segoe UI" pitchFamily="34" charset="-122"/>
                <a:cs typeface="Segoe UI" pitchFamily="34" charset="-120"/>
              </a:rPr>
              <a:t>highest modelled hour</a:t>
            </a:r>
            <a:endParaRPr lang="en-US" sz="850" dirty="0"/>
          </a:p>
        </p:txBody>
      </p:sp>
      <p:pic>
        <p:nvPicPr>
          <p:cNvPr id="25" name="Image 1" descr="preencoded.png">    </p:cNvPr>
          <p:cNvPicPr>
            <a:picLocks noChangeAspect="1"/>
          </p:cNvPicPr>
          <p:nvPr/>
        </p:nvPicPr>
        <p:blipFill>
          <a:blip r:embed="rId2"/>
          <a:stretch>
            <a:fillRect/>
          </a:stretch>
        </p:blipFill>
        <p:spPr>
          <a:xfrm>
            <a:off x="457200" y="2542032"/>
            <a:ext cx="11274552" cy="3383280"/>
          </a:xfrm>
          <a:prstGeom prst="rect">
            <a:avLst/>
          </a:prstGeom>
        </p:spPr>
      </p:pic>
      <p:sp>
        <p:nvSpPr>
          <p:cNvPr id="26" name="Text 22"/>
          <p:cNvSpPr/>
          <p:nvPr/>
        </p:nvSpPr>
        <p:spPr>
          <a:xfrm>
            <a:off x="457200" y="6053328"/>
            <a:ext cx="11338560" cy="384048"/>
          </a:xfrm>
          <a:prstGeom prst="rect">
            <a:avLst/>
          </a:prstGeom>
          <a:noFill/>
          <a:ln/>
        </p:spPr>
        <p:txBody>
          <a:bodyPr wrap="square" rtlCol="0" anchor="ctr"/>
          <a:lstStyle/>
          <a:p>
            <a:pPr indent="0" marL="0">
              <a:buNone/>
            </a:pPr>
            <a:r>
              <a:rPr lang="en-US" sz="950" i="1" dirty="0">
                <a:solidFill>
                  <a:srgbClr val="5A7266"/>
                </a:solidFill>
                <a:latin typeface="Segoe UI" pitchFamily="34" charset="0"/>
                <a:ea typeface="Segoe UI" pitchFamily="34" charset="-122"/>
                <a:cs typeface="Segoe UI" pitchFamily="34" charset="-120"/>
              </a:rPr>
              <a:t>May is the strongest month at 169 MWh; Nov is the weakest at 128 MWh — a ratio of 1.3 to 1. Anything sized on an annual average will be wrong at both ends of that.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41248"/>
          </a:xfrm>
          <a:prstGeom prst="rect">
            <a:avLst/>
          </a:prstGeom>
          <a:solidFill>
            <a:srgbClr val="F7F9F8"/>
          </a:solidFill>
          <a:ln w="12700">
            <a:solidFill>
              <a:srgbClr val="F7F9F8"/>
            </a:solidFill>
            <a:prstDash val="solid"/>
          </a:ln>
        </p:spPr>
      </p:sp>
      <p:sp>
        <p:nvSpPr>
          <p:cNvPr id="3" name="Shape 1"/>
          <p:cNvSpPr/>
          <p:nvPr/>
        </p:nvSpPr>
        <p:spPr>
          <a:xfrm>
            <a:off x="0" y="841248"/>
            <a:ext cx="12191695" cy="25603"/>
          </a:xfrm>
          <a:prstGeom prst="rect">
            <a:avLst/>
          </a:prstGeom>
          <a:solidFill>
            <a:srgbClr val="008742"/>
          </a:solidFill>
          <a:ln w="12700">
            <a:solidFill>
              <a:srgbClr val="008742"/>
            </a:solidFill>
            <a:prstDash val="solid"/>
          </a:ln>
        </p:spPr>
      </p:sp>
      <p:sp>
        <p:nvSpPr>
          <p:cNvPr id="4" name="Text 2"/>
          <p:cNvSpPr/>
          <p:nvPr/>
        </p:nvSpPr>
        <p:spPr>
          <a:xfrm>
            <a:off x="457200" y="91440"/>
            <a:ext cx="11338560" cy="237744"/>
          </a:xfrm>
          <a:prstGeom prst="rect">
            <a:avLst/>
          </a:prstGeom>
          <a:noFill/>
          <a:ln/>
        </p:spPr>
        <p:txBody>
          <a:bodyPr wrap="square" rtlCol="0" anchor="ctr"/>
          <a:lstStyle/>
          <a:p>
            <a:pPr indent="0" marL="0">
              <a:buNone/>
            </a:pPr>
            <a:r>
              <a:rPr lang="en-US" sz="1000" b="1" spc="160" kern="0" dirty="0">
                <a:solidFill>
                  <a:srgbClr val="008742"/>
                </a:solidFill>
                <a:latin typeface="Consolas" pitchFamily="34" charset="0"/>
                <a:ea typeface="Consolas" pitchFamily="34" charset="-122"/>
                <a:cs typeface="Consolas" pitchFamily="34" charset="-120"/>
              </a:rPr>
              <a:t>INPUTS</a:t>
            </a:r>
            <a:endParaRPr lang="en-US" sz="1000" dirty="0"/>
          </a:p>
        </p:txBody>
      </p:sp>
      <p:sp>
        <p:nvSpPr>
          <p:cNvPr id="5" name="Text 3"/>
          <p:cNvSpPr/>
          <p:nvPr/>
        </p:nvSpPr>
        <p:spPr>
          <a:xfrm>
            <a:off x="457200" y="310896"/>
            <a:ext cx="9966960" cy="457200"/>
          </a:xfrm>
          <a:prstGeom prst="rect">
            <a:avLst/>
          </a:prstGeom>
          <a:noFill/>
          <a:ln/>
        </p:spPr>
        <p:txBody>
          <a:bodyPr wrap="square" rtlCol="0" anchor="ctr"/>
          <a:lstStyle/>
          <a:p>
            <a:pPr indent="0" marL="0">
              <a:buNone/>
            </a:pPr>
            <a:r>
              <a:rPr lang="en-US" sz="2300" b="1" dirty="0">
                <a:solidFill>
                  <a:srgbClr val="1B201D"/>
                </a:solidFill>
                <a:latin typeface="Segoe UI" pitchFamily="34" charset="0"/>
                <a:ea typeface="Segoe UI" pitchFamily="34" charset="-122"/>
                <a:cs typeface="Segoe UI" pitchFamily="34" charset="-120"/>
              </a:rPr>
              <a:t>What is on the ground</a:t>
            </a:r>
            <a:endParaRPr lang="en-US" sz="2300" dirty="0"/>
          </a:p>
        </p:txBody>
      </p:sp>
      <p:pic>
        <p:nvPicPr>
          <p:cNvPr id="6" name="Image 0" descr="preencoded.png">    </p:cNvPr>
          <p:cNvPicPr>
            <a:picLocks noChangeAspect="1"/>
          </p:cNvPicPr>
          <p:nvPr/>
        </p:nvPicPr>
        <p:blipFill>
          <a:blip r:embed="rId1"/>
          <a:stretch>
            <a:fillRect/>
          </a:stretch>
        </p:blipFill>
        <p:spPr>
          <a:xfrm>
            <a:off x="10561320" y="245059"/>
            <a:ext cx="1170432" cy="351130"/>
          </a:xfrm>
          <a:prstGeom prst="rect">
            <a:avLst/>
          </a:prstGeom>
        </p:spPr>
      </p:pic>
      <p:sp>
        <p:nvSpPr>
          <p:cNvPr id="7" name="Text 4"/>
          <p:cNvSpPr/>
          <p:nvPr/>
        </p:nvSpPr>
        <p:spPr>
          <a:xfrm>
            <a:off x="457200" y="6473952"/>
            <a:ext cx="9601200" cy="274320"/>
          </a:xfrm>
          <a:prstGeom prst="rect">
            <a:avLst/>
          </a:prstGeom>
          <a:noFill/>
          <a:ln/>
        </p:spPr>
        <p:txBody>
          <a:bodyPr wrap="square" rtlCol="0" anchor="ctr"/>
          <a:lstStyle/>
          <a:p>
            <a:pPr indent="0" marL="0">
              <a:buNone/>
            </a:pPr>
            <a:r>
              <a:rPr lang="en-US" sz="850" dirty="0">
                <a:solidFill>
                  <a:srgbClr val="849A8F"/>
                </a:solidFill>
                <a:latin typeface="Segoe UI" pitchFamily="34" charset="0"/>
                <a:ea typeface="Segoe UI" pitchFamily="34" charset="-122"/>
                <a:cs typeface="Segoe UI" pitchFamily="34" charset="-120"/>
              </a:rPr>
              <a:t>NextNRG   ·   1901 Convention Ctr Dr, Miami Beach, FL   ·   8/27/2026</a:t>
            </a:r>
            <a:endParaRPr lang="en-US" sz="850" dirty="0"/>
          </a:p>
        </p:txBody>
      </p:sp>
      <p:sp>
        <p:nvSpPr>
          <p:cNvPr id="8" name="Text 5"/>
          <p:cNvSpPr/>
          <p:nvPr/>
        </p:nvSpPr>
        <p:spPr>
          <a:xfrm>
            <a:off x="11338560" y="6473952"/>
            <a:ext cx="457200" cy="274320"/>
          </a:xfrm>
          <a:prstGeom prst="rect">
            <a:avLst/>
          </a:prstGeom>
          <a:noFill/>
          <a:ln/>
        </p:spPr>
        <p:txBody>
          <a:bodyPr wrap="square" rtlCol="0" anchor="ctr"/>
          <a:lstStyle/>
          <a:p>
            <a:pPr algn="r" indent="0" marL="0">
              <a:buNone/>
            </a:pPr>
            <a:r>
              <a:rPr lang="en-US" sz="850" dirty="0">
                <a:solidFill>
                  <a:srgbClr val="849A8F"/>
                </a:solidFill>
                <a:latin typeface="Segoe UI" pitchFamily="34" charset="0"/>
                <a:ea typeface="Segoe UI" pitchFamily="34" charset="-122"/>
                <a:cs typeface="Segoe UI" pitchFamily="34" charset="-120"/>
              </a:rPr>
              <a:t>2</a:t>
            </a:r>
            <a:endParaRPr lang="en-US" sz="8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743200"/>
                <a:gridCol w="1051560"/>
                <a:gridCol w="2286000"/>
                <a:gridCol w="822960"/>
                <a:gridCol w="960120"/>
                <a:gridCol w="777240"/>
                <a:gridCol w="1371600"/>
                <a:gridCol w="1261872"/>
              </a:tblGrid>
              <a:tr h="310896">
                <a:tc>
                  <a:txBody>
                    <a:bodyPr/>
                    <a:lstStyle/>
                    <a:p>
                      <a:pPr indent="0" marL="0">
                        <a:buNone/>
                      </a:pPr>
                      <a:r>
                        <a:rPr lang="en-US" sz="1100" b="1" dirty="0">
                          <a:solidFill>
                            <a:srgbClr val="5A7266"/>
                          </a:solidFill>
                          <a:latin typeface="Segoe UI" pitchFamily="34" charset="0"/>
                          <a:ea typeface="Segoe UI" pitchFamily="34" charset="-122"/>
                          <a:cs typeface="Segoe UI" pitchFamily="34" charset="-120"/>
                        </a:rPr>
                        <a:t>Array</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7F9F8"/>
                    </a:solidFill>
                  </a:tcPr>
                </a:tc>
                <a:tc>
                  <a:txBody>
                    <a:bodyPr/>
                    <a:lstStyle/>
                    <a:p>
                      <a:pPr algn="r" indent="0" marL="0">
                        <a:buNone/>
                      </a:pPr>
                      <a:r>
                        <a:rPr lang="en-US" sz="1100" b="1" dirty="0">
                          <a:solidFill>
                            <a:srgbClr val="5A7266"/>
                          </a:solidFill>
                          <a:latin typeface="Segoe UI" pitchFamily="34" charset="0"/>
                          <a:ea typeface="Segoe UI" pitchFamily="34" charset="-122"/>
                          <a:cs typeface="Segoe UI" pitchFamily="34" charset="-120"/>
                        </a:rPr>
                        <a:t>kW-DC</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7F9F8"/>
                    </a:solidFill>
                  </a:tcPr>
                </a:tc>
                <a:tc>
                  <a:txBody>
                    <a:bodyPr/>
                    <a:lstStyle/>
                    <a:p>
                      <a:pPr indent="0" marL="0">
                        <a:buNone/>
                      </a:pPr>
                      <a:r>
                        <a:rPr lang="en-US" sz="1100" b="1" dirty="0">
                          <a:solidFill>
                            <a:srgbClr val="5A7266"/>
                          </a:solidFill>
                          <a:latin typeface="Segoe UI" pitchFamily="34" charset="0"/>
                          <a:ea typeface="Segoe UI" pitchFamily="34" charset="-122"/>
                          <a:cs typeface="Segoe UI" pitchFamily="34" charset="-120"/>
                        </a:rPr>
                        <a:t>Racking</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7F9F8"/>
                    </a:solidFill>
                  </a:tcPr>
                </a:tc>
                <a:tc>
                  <a:txBody>
                    <a:bodyPr/>
                    <a:lstStyle/>
                    <a:p>
                      <a:pPr algn="r" indent="0" marL="0">
                        <a:buNone/>
                      </a:pPr>
                      <a:r>
                        <a:rPr lang="en-US" sz="1100" b="1" dirty="0">
                          <a:solidFill>
                            <a:srgbClr val="5A7266"/>
                          </a:solidFill>
                          <a:latin typeface="Segoe UI" pitchFamily="34" charset="0"/>
                          <a:ea typeface="Segoe UI" pitchFamily="34" charset="-122"/>
                          <a:cs typeface="Segoe UI" pitchFamily="34" charset="-120"/>
                        </a:rPr>
                        <a:t>Tilt</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7F9F8"/>
                    </a:solidFill>
                  </a:tcPr>
                </a:tc>
                <a:tc>
                  <a:txBody>
                    <a:bodyPr/>
                    <a:lstStyle/>
                    <a:p>
                      <a:pPr algn="r" indent="0" marL="0">
                        <a:buNone/>
                      </a:pPr>
                      <a:r>
                        <a:rPr lang="en-US" sz="1100" b="1" dirty="0">
                          <a:solidFill>
                            <a:srgbClr val="5A7266"/>
                          </a:solidFill>
                          <a:latin typeface="Segoe UI" pitchFamily="34" charset="0"/>
                          <a:ea typeface="Segoe UI" pitchFamily="34" charset="-122"/>
                          <a:cs typeface="Segoe UI" pitchFamily="34" charset="-120"/>
                        </a:rPr>
                        <a:t>Azimuth</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7F9F8"/>
                    </a:solidFill>
                  </a:tcPr>
                </a:tc>
                <a:tc>
                  <a:txBody>
                    <a:bodyPr/>
                    <a:lstStyle/>
                    <a:p>
                      <a:pPr algn="r" indent="0" marL="0">
                        <a:buNone/>
                      </a:pPr>
                      <a:r>
                        <a:rPr lang="en-US" sz="1100" b="1" dirty="0">
                          <a:solidFill>
                            <a:srgbClr val="5A7266"/>
                          </a:solidFill>
                          <a:latin typeface="Segoe UI" pitchFamily="34" charset="0"/>
                          <a:ea typeface="Segoe UI" pitchFamily="34" charset="-122"/>
                          <a:cs typeface="Segoe UI" pitchFamily="34" charset="-120"/>
                        </a:rPr>
                        <a:t>GCR</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7F9F8"/>
                    </a:solidFill>
                  </a:tcPr>
                </a:tc>
                <a:tc>
                  <a:txBody>
                    <a:bodyPr/>
                    <a:lstStyle/>
                    <a:p>
                      <a:pPr algn="r" indent="0" marL="0">
                        <a:buNone/>
                      </a:pPr>
                      <a:r>
                        <a:rPr lang="en-US" sz="1100" b="1" dirty="0">
                          <a:solidFill>
                            <a:srgbClr val="5A7266"/>
                          </a:solidFill>
                          <a:latin typeface="Segoe UI" pitchFamily="34" charset="0"/>
                          <a:ea typeface="Segoe UI" pitchFamily="34" charset="-122"/>
                          <a:cs typeface="Segoe UI" pitchFamily="34" charset="-120"/>
                        </a:rPr>
                        <a:t>kWh/kW-yr</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7F9F8"/>
                    </a:solidFill>
                  </a:tcPr>
                </a:tc>
                <a:tc>
                  <a:txBody>
                    <a:bodyPr/>
                    <a:lstStyle/>
                    <a:p>
                      <a:pPr algn="r" indent="0" marL="0">
                        <a:buNone/>
                      </a:pPr>
                      <a:r>
                        <a:rPr lang="en-US" sz="1100" b="1" dirty="0">
                          <a:solidFill>
                            <a:srgbClr val="5A7266"/>
                          </a:solidFill>
                          <a:latin typeface="Segoe UI" pitchFamily="34" charset="0"/>
                          <a:ea typeface="Segoe UI" pitchFamily="34" charset="-122"/>
                          <a:cs typeface="Segoe UI" pitchFamily="34" charset="-120"/>
                        </a:rPr>
                        <a:t>Share</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7F9F8"/>
                    </a:solidFill>
                  </a:tcPr>
                </a:tc>
              </a:tr>
              <a:tr h="310896">
                <a:tc>
                  <a:txBody>
                    <a:bodyPr/>
                    <a:lstStyle/>
                    <a:p>
                      <a:pPr indent="0" marL="0">
                        <a:buNone/>
                      </a:pPr>
                      <a:r>
                        <a:rPr lang="en-US" sz="1100" dirty="0">
                          <a:solidFill>
                            <a:srgbClr val="1B201D"/>
                          </a:solidFill>
                          <a:latin typeface="Segoe UI" pitchFamily="34" charset="0"/>
                          <a:ea typeface="Segoe UI" pitchFamily="34" charset="-122"/>
                          <a:cs typeface="Segoe UI" pitchFamily="34" charset="-120"/>
                        </a:rPr>
                        <a:t>South field</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201D"/>
                          </a:solidFill>
                          <a:latin typeface="Segoe UI" pitchFamily="34" charset="0"/>
                          <a:ea typeface="Segoe UI" pitchFamily="34" charset="-122"/>
                          <a:cs typeface="Segoe UI" pitchFamily="34" charset="-120"/>
                        </a:rPr>
                        <a:t>900</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100" dirty="0">
                          <a:solidFill>
                            <a:srgbClr val="5A7266"/>
                          </a:solidFill>
                          <a:latin typeface="Segoe UI" pitchFamily="34" charset="0"/>
                          <a:ea typeface="Segoe UI" pitchFamily="34" charset="-122"/>
                          <a:cs typeface="Segoe UI" pitchFamily="34" charset="-120"/>
                        </a:rPr>
                        <a:t>Fixed-tilt ground mount</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201D"/>
                          </a:solidFill>
                          <a:latin typeface="Segoe UI" pitchFamily="34" charset="0"/>
                          <a:ea typeface="Segoe UI" pitchFamily="34" charset="-122"/>
                          <a:cs typeface="Segoe UI" pitchFamily="34" charset="-120"/>
                        </a:rPr>
                        <a:t>22°</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201D"/>
                          </a:solidFill>
                          <a:latin typeface="Segoe UI" pitchFamily="34" charset="0"/>
                          <a:ea typeface="Segoe UI" pitchFamily="34" charset="-122"/>
                          <a:cs typeface="Segoe UI" pitchFamily="34" charset="-120"/>
                        </a:rPr>
                        <a:t>180°</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A7266"/>
                          </a:solidFill>
                          <a:latin typeface="Segoe UI" pitchFamily="34" charset="0"/>
                          <a:ea typeface="Segoe UI" pitchFamily="34" charset="-122"/>
                          <a:cs typeface="Segoe UI" pitchFamily="34" charset="-120"/>
                        </a:rPr>
                        <a:t>0.40</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B68403"/>
                          </a:solidFill>
                          <a:latin typeface="Segoe UI" pitchFamily="34" charset="0"/>
                          <a:ea typeface="Segoe UI" pitchFamily="34" charset="-122"/>
                          <a:cs typeface="Segoe UI" pitchFamily="34" charset="-120"/>
                        </a:rPr>
                        <a:t>1,495</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A7266"/>
                          </a:solidFill>
                          <a:latin typeface="Segoe UI" pitchFamily="34" charset="0"/>
                          <a:ea typeface="Segoe UI" pitchFamily="34" charset="-122"/>
                          <a:cs typeface="Segoe UI" pitchFamily="34" charset="-120"/>
                        </a:rPr>
                        <a:t>72%</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1B201D"/>
                          </a:solidFill>
                          <a:latin typeface="Segoe UI" pitchFamily="34" charset="0"/>
                          <a:ea typeface="Segoe UI" pitchFamily="34" charset="-122"/>
                          <a:cs typeface="Segoe UI" pitchFamily="34" charset="-120"/>
                        </a:rPr>
                        <a:t>Roof</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201D"/>
                          </a:solidFill>
                          <a:latin typeface="Segoe UI" pitchFamily="34" charset="0"/>
                          <a:ea typeface="Segoe UI" pitchFamily="34" charset="-122"/>
                          <a:cs typeface="Segoe UI" pitchFamily="34" charset="-120"/>
                        </a:rPr>
                        <a:t>360</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100" dirty="0">
                          <a:solidFill>
                            <a:srgbClr val="5A7266"/>
                          </a:solidFill>
                          <a:latin typeface="Segoe UI" pitchFamily="34" charset="0"/>
                          <a:ea typeface="Segoe UI" pitchFamily="34" charset="-122"/>
                          <a:cs typeface="Segoe UI" pitchFamily="34" charset="-120"/>
                        </a:rPr>
                        <a:t>Fixed-tilt ground mount</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201D"/>
                          </a:solidFill>
                          <a:latin typeface="Segoe UI" pitchFamily="34" charset="0"/>
                          <a:ea typeface="Segoe UI" pitchFamily="34" charset="-122"/>
                          <a:cs typeface="Segoe UI" pitchFamily="34" charset="-120"/>
                        </a:rPr>
                        <a:t>8°</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201D"/>
                          </a:solidFill>
                          <a:latin typeface="Segoe UI" pitchFamily="34" charset="0"/>
                          <a:ea typeface="Segoe UI" pitchFamily="34" charset="-122"/>
                          <a:cs typeface="Segoe UI" pitchFamily="34" charset="-120"/>
                        </a:rPr>
                        <a:t>180°</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A7266"/>
                          </a:solidFill>
                          <a:latin typeface="Segoe UI" pitchFamily="34" charset="0"/>
                          <a:ea typeface="Segoe UI" pitchFamily="34" charset="-122"/>
                          <a:cs typeface="Segoe UI" pitchFamily="34" charset="-120"/>
                        </a:rPr>
                        <a:t>0.40</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B68403"/>
                          </a:solidFill>
                          <a:latin typeface="Segoe UI" pitchFamily="34" charset="0"/>
                          <a:ea typeface="Segoe UI" pitchFamily="34" charset="-122"/>
                          <a:cs typeface="Segoe UI" pitchFamily="34" charset="-120"/>
                        </a:rPr>
                        <a:t>1,459</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A7266"/>
                          </a:solidFill>
                          <a:latin typeface="Segoe UI" pitchFamily="34" charset="0"/>
                          <a:ea typeface="Segoe UI" pitchFamily="34" charset="-122"/>
                          <a:cs typeface="Segoe UI" pitchFamily="34" charset="-120"/>
                        </a:rPr>
                        <a:t>28%</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bl>
          </a:graphicData>
        </a:graphic>
      </p:graphicFrame>
      <p:sp>
        <p:nvSpPr>
          <p:cNvPr id="10" name="Text 6"/>
          <p:cNvSpPr/>
          <p:nvPr/>
        </p:nvSpPr>
        <p:spPr>
          <a:xfrm>
            <a:off x="457200" y="2441448"/>
            <a:ext cx="11274552" cy="274320"/>
          </a:xfrm>
          <a:prstGeom prst="rect">
            <a:avLst/>
          </a:prstGeom>
          <a:noFill/>
          <a:ln/>
        </p:spPr>
        <p:txBody>
          <a:bodyPr wrap="square" rtlCol="0" anchor="ctr"/>
          <a:lstStyle/>
          <a:p>
            <a:pPr indent="0" marL="0">
              <a:buNone/>
            </a:pPr>
            <a:r>
              <a:rPr lang="en-US" sz="1200" b="1" dirty="0">
                <a:solidFill>
                  <a:srgbClr val="1B201D"/>
                </a:solidFill>
                <a:latin typeface="Segoe UI" pitchFamily="34" charset="0"/>
                <a:ea typeface="Segoe UI" pitchFamily="34" charset="-122"/>
                <a:cs typeface="Segoe UI" pitchFamily="34" charset="-120"/>
              </a:rPr>
              <a:t>Where each orientation came from</a:t>
            </a:r>
            <a:endParaRPr lang="en-US" sz="1200" dirty="0"/>
          </a:p>
        </p:txBody>
      </p:sp>
      <p:sp>
        <p:nvSpPr>
          <p:cNvPr id="11" name="Text 7"/>
          <p:cNvSpPr/>
          <p:nvPr/>
        </p:nvSpPr>
        <p:spPr>
          <a:xfrm>
            <a:off x="457200" y="2734056"/>
            <a:ext cx="11274552" cy="3502152"/>
          </a:xfrm>
          <a:prstGeom prst="rect">
            <a:avLst/>
          </a:prstGeom>
          <a:noFill/>
          <a:ln/>
        </p:spPr>
        <p:txBody>
          <a:bodyPr wrap="square" rtlCol="0" anchor="t"/>
          <a:lstStyle/>
          <a:p>
            <a:pPr marL="342900" indent="-342900">
              <a:buSzPct val="100000"/>
              <a:buChar char="•"/>
            </a:pPr>
            <a:r>
              <a:rPr lang="en-US" sz="1050" dirty="0">
                <a:solidFill>
                  <a:srgbClr val="5A7266"/>
                </a:solidFill>
                <a:latin typeface="Segoe UI" pitchFamily="34" charset="0"/>
                <a:ea typeface="Segoe UI" pitchFamily="34" charset="-122"/>
                <a:cs typeface="Segoe UI" pitchFamily="34" charset="-120"/>
              </a:rPr>
              <a:t>South field — tilt: array properties; azimuth: derived from row angle 90°.</a:t>
            </a:r>
            <a:endParaRPr lang="en-US" sz="1050" dirty="0"/>
          </a:p>
          <a:p>
            <a:pPr marL="342900" indent="-342900">
              <a:buSzPct val="100000"/>
              <a:buChar char="•"/>
            </a:pPr>
            <a:r>
              <a:rPr lang="en-US" sz="1050" dirty="0">
                <a:solidFill>
                  <a:srgbClr val="5A7266"/>
                </a:solidFill>
                <a:latin typeface="Segoe UI" pitchFamily="34" charset="0"/>
                <a:ea typeface="Segoe UI" pitchFamily="34" charset="-122"/>
                <a:cs typeface="Segoe UI" pitchFamily="34" charset="-120"/>
              </a:rPr>
              <a:t>Roof — tilt: array properties; azimuth: derived from row angle 90°.</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41248"/>
          </a:xfrm>
          <a:prstGeom prst="rect">
            <a:avLst/>
          </a:prstGeom>
          <a:solidFill>
            <a:srgbClr val="F7F9F8"/>
          </a:solidFill>
          <a:ln w="12700">
            <a:solidFill>
              <a:srgbClr val="F7F9F8"/>
            </a:solidFill>
            <a:prstDash val="solid"/>
          </a:ln>
        </p:spPr>
      </p:sp>
      <p:sp>
        <p:nvSpPr>
          <p:cNvPr id="3" name="Shape 1"/>
          <p:cNvSpPr/>
          <p:nvPr/>
        </p:nvSpPr>
        <p:spPr>
          <a:xfrm>
            <a:off x="0" y="841248"/>
            <a:ext cx="12191695" cy="25603"/>
          </a:xfrm>
          <a:prstGeom prst="rect">
            <a:avLst/>
          </a:prstGeom>
          <a:solidFill>
            <a:srgbClr val="008742"/>
          </a:solidFill>
          <a:ln w="12700">
            <a:solidFill>
              <a:srgbClr val="008742"/>
            </a:solidFill>
            <a:prstDash val="solid"/>
          </a:ln>
        </p:spPr>
      </p:sp>
      <p:sp>
        <p:nvSpPr>
          <p:cNvPr id="4" name="Text 2"/>
          <p:cNvSpPr/>
          <p:nvPr/>
        </p:nvSpPr>
        <p:spPr>
          <a:xfrm>
            <a:off x="457200" y="91440"/>
            <a:ext cx="11338560" cy="237744"/>
          </a:xfrm>
          <a:prstGeom prst="rect">
            <a:avLst/>
          </a:prstGeom>
          <a:noFill/>
          <a:ln/>
        </p:spPr>
        <p:txBody>
          <a:bodyPr wrap="square" rtlCol="0" anchor="ctr"/>
          <a:lstStyle/>
          <a:p>
            <a:pPr indent="0" marL="0">
              <a:buNone/>
            </a:pPr>
            <a:r>
              <a:rPr lang="en-US" sz="1000" b="1" spc="160" kern="0" dirty="0">
                <a:solidFill>
                  <a:srgbClr val="008742"/>
                </a:solidFill>
                <a:latin typeface="Consolas" pitchFamily="34" charset="0"/>
                <a:ea typeface="Consolas" pitchFamily="34" charset="-122"/>
                <a:cs typeface="Consolas" pitchFamily="34" charset="-120"/>
              </a:rPr>
              <a:t>DAILY PROFILE</a:t>
            </a:r>
            <a:endParaRPr lang="en-US" sz="1000" dirty="0"/>
          </a:p>
        </p:txBody>
      </p:sp>
      <p:sp>
        <p:nvSpPr>
          <p:cNvPr id="5" name="Text 3"/>
          <p:cNvSpPr/>
          <p:nvPr/>
        </p:nvSpPr>
        <p:spPr>
          <a:xfrm>
            <a:off x="457200" y="310896"/>
            <a:ext cx="9966960" cy="457200"/>
          </a:xfrm>
          <a:prstGeom prst="rect">
            <a:avLst/>
          </a:prstGeom>
          <a:noFill/>
          <a:ln/>
        </p:spPr>
        <p:txBody>
          <a:bodyPr wrap="square" rtlCol="0" anchor="ctr"/>
          <a:lstStyle/>
          <a:p>
            <a:pPr indent="0" marL="0">
              <a:buNone/>
            </a:pPr>
            <a:r>
              <a:rPr lang="en-US" sz="2300" b="1" dirty="0">
                <a:solidFill>
                  <a:srgbClr val="1B201D"/>
                </a:solidFill>
                <a:latin typeface="Segoe UI" pitchFamily="34" charset="0"/>
                <a:ea typeface="Segoe UI" pitchFamily="34" charset="-122"/>
                <a:cs typeface="Segoe UI" pitchFamily="34" charset="-120"/>
              </a:rPr>
              <a:t>One day, hour by hour</a:t>
            </a:r>
            <a:endParaRPr lang="en-US" sz="2300" dirty="0"/>
          </a:p>
        </p:txBody>
      </p:sp>
      <p:pic>
        <p:nvPicPr>
          <p:cNvPr id="6" name="Image 0" descr="preencoded.png">    </p:cNvPr>
          <p:cNvPicPr>
            <a:picLocks noChangeAspect="1"/>
          </p:cNvPicPr>
          <p:nvPr/>
        </p:nvPicPr>
        <p:blipFill>
          <a:blip r:embed="rId1"/>
          <a:stretch>
            <a:fillRect/>
          </a:stretch>
        </p:blipFill>
        <p:spPr>
          <a:xfrm>
            <a:off x="10561320" y="245059"/>
            <a:ext cx="1170432" cy="351130"/>
          </a:xfrm>
          <a:prstGeom prst="rect">
            <a:avLst/>
          </a:prstGeom>
        </p:spPr>
      </p:pic>
      <p:sp>
        <p:nvSpPr>
          <p:cNvPr id="7" name="Text 4"/>
          <p:cNvSpPr/>
          <p:nvPr/>
        </p:nvSpPr>
        <p:spPr>
          <a:xfrm>
            <a:off x="457200" y="6473952"/>
            <a:ext cx="9601200" cy="274320"/>
          </a:xfrm>
          <a:prstGeom prst="rect">
            <a:avLst/>
          </a:prstGeom>
          <a:noFill/>
          <a:ln/>
        </p:spPr>
        <p:txBody>
          <a:bodyPr wrap="square" rtlCol="0" anchor="ctr"/>
          <a:lstStyle/>
          <a:p>
            <a:pPr indent="0" marL="0">
              <a:buNone/>
            </a:pPr>
            <a:r>
              <a:rPr lang="en-US" sz="850" dirty="0">
                <a:solidFill>
                  <a:srgbClr val="849A8F"/>
                </a:solidFill>
                <a:latin typeface="Segoe UI" pitchFamily="34" charset="0"/>
                <a:ea typeface="Segoe UI" pitchFamily="34" charset="-122"/>
                <a:cs typeface="Segoe UI" pitchFamily="34" charset="-120"/>
              </a:rPr>
              <a:t>NextNRG   ·   1901 Convention Ctr Dr, Miami Beach, FL   ·   8/27/2026</a:t>
            </a:r>
            <a:endParaRPr lang="en-US" sz="850" dirty="0"/>
          </a:p>
        </p:txBody>
      </p:sp>
      <p:sp>
        <p:nvSpPr>
          <p:cNvPr id="8" name="Text 5"/>
          <p:cNvSpPr/>
          <p:nvPr/>
        </p:nvSpPr>
        <p:spPr>
          <a:xfrm>
            <a:off x="11338560" y="6473952"/>
            <a:ext cx="457200" cy="274320"/>
          </a:xfrm>
          <a:prstGeom prst="rect">
            <a:avLst/>
          </a:prstGeom>
          <a:noFill/>
          <a:ln/>
        </p:spPr>
        <p:txBody>
          <a:bodyPr wrap="square" rtlCol="0" anchor="ctr"/>
          <a:lstStyle/>
          <a:p>
            <a:pPr algn="r" indent="0" marL="0">
              <a:buNone/>
            </a:pPr>
            <a:r>
              <a:rPr lang="en-US" sz="850" dirty="0">
                <a:solidFill>
                  <a:srgbClr val="849A8F"/>
                </a:solidFill>
                <a:latin typeface="Segoe UI" pitchFamily="34" charset="0"/>
                <a:ea typeface="Segoe UI" pitchFamily="34" charset="-122"/>
                <a:cs typeface="Segoe UI" pitchFamily="34" charset="-120"/>
              </a:rPr>
              <a:t>3</a:t>
            </a:r>
            <a:endParaRPr lang="en-US" sz="850" dirty="0"/>
          </a:p>
        </p:txBody>
      </p:sp>
      <p:pic>
        <p:nvPicPr>
          <p:cNvPr id="9" name="Image 1" descr="preencoded.png">    </p:cNvPr>
          <p:cNvPicPr>
            <a:picLocks noChangeAspect="1"/>
          </p:cNvPicPr>
          <p:nvPr/>
        </p:nvPicPr>
        <p:blipFill>
          <a:blip r:embed="rId2"/>
          <a:stretch>
            <a:fillRect/>
          </a:stretch>
        </p:blipFill>
        <p:spPr>
          <a:xfrm>
            <a:off x="457200" y="1143000"/>
            <a:ext cx="11274552" cy="4480560"/>
          </a:xfrm>
          <a:prstGeom prst="rect">
            <a:avLst/>
          </a:prstGeom>
        </p:spPr>
      </p:pic>
      <p:sp>
        <p:nvSpPr>
          <p:cNvPr id="10" name="Text 6"/>
          <p:cNvSpPr/>
          <p:nvPr/>
        </p:nvSpPr>
        <p:spPr>
          <a:xfrm>
            <a:off x="457200" y="6053328"/>
            <a:ext cx="11338560" cy="384048"/>
          </a:xfrm>
          <a:prstGeom prst="rect">
            <a:avLst/>
          </a:prstGeom>
          <a:noFill/>
          <a:ln/>
        </p:spPr>
        <p:txBody>
          <a:bodyPr wrap="square" rtlCol="0" anchor="ctr"/>
          <a:lstStyle/>
          <a:p>
            <a:pPr indent="0" marL="0">
              <a:buNone/>
            </a:pPr>
            <a:r>
              <a:rPr lang="en-US" sz="950" i="1" dirty="0">
                <a:solidFill>
                  <a:srgbClr val="5A7266"/>
                </a:solidFill>
                <a:latin typeface="Segoe UI" pitchFamily="34" charset="0"/>
                <a:ea typeface="Segoe UI" pitchFamily="34" charset="-122"/>
                <a:cs typeface="Segoe UI" pitchFamily="34" charset="-120"/>
              </a:rPr>
              <a:t>Solar noon is set by longitude and the equation of time, not by the clock — which is why the peak does not sit at 12:00. Midsummer delivers 5 MWh and peaks at 696 kW; midwinter delivers 4 MWh and peaks at 693 kW. Anything that has to ride through a winter evening is sized on the lower of those, not the average.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41248"/>
          </a:xfrm>
          <a:prstGeom prst="rect">
            <a:avLst/>
          </a:prstGeom>
          <a:solidFill>
            <a:srgbClr val="F7F9F8"/>
          </a:solidFill>
          <a:ln w="12700">
            <a:solidFill>
              <a:srgbClr val="F7F9F8"/>
            </a:solidFill>
            <a:prstDash val="solid"/>
          </a:ln>
        </p:spPr>
      </p:sp>
      <p:sp>
        <p:nvSpPr>
          <p:cNvPr id="3" name="Shape 1"/>
          <p:cNvSpPr/>
          <p:nvPr/>
        </p:nvSpPr>
        <p:spPr>
          <a:xfrm>
            <a:off x="0" y="841248"/>
            <a:ext cx="12191695" cy="25603"/>
          </a:xfrm>
          <a:prstGeom prst="rect">
            <a:avLst/>
          </a:prstGeom>
          <a:solidFill>
            <a:srgbClr val="008742"/>
          </a:solidFill>
          <a:ln w="12700">
            <a:solidFill>
              <a:srgbClr val="008742"/>
            </a:solidFill>
            <a:prstDash val="solid"/>
          </a:ln>
        </p:spPr>
      </p:sp>
      <p:sp>
        <p:nvSpPr>
          <p:cNvPr id="4" name="Text 2"/>
          <p:cNvSpPr/>
          <p:nvPr/>
        </p:nvSpPr>
        <p:spPr>
          <a:xfrm>
            <a:off x="457200" y="91440"/>
            <a:ext cx="11338560" cy="237744"/>
          </a:xfrm>
          <a:prstGeom prst="rect">
            <a:avLst/>
          </a:prstGeom>
          <a:noFill/>
          <a:ln/>
        </p:spPr>
        <p:txBody>
          <a:bodyPr wrap="square" rtlCol="0" anchor="ctr"/>
          <a:lstStyle/>
          <a:p>
            <a:pPr indent="0" marL="0">
              <a:buNone/>
            </a:pPr>
            <a:r>
              <a:rPr lang="en-US" sz="1000" b="1" spc="160" kern="0" dirty="0">
                <a:solidFill>
                  <a:srgbClr val="008742"/>
                </a:solidFill>
                <a:latin typeface="Consolas" pitchFamily="34" charset="0"/>
                <a:ea typeface="Consolas" pitchFamily="34" charset="-122"/>
                <a:cs typeface="Consolas" pitchFamily="34" charset="-120"/>
              </a:rPr>
              <a:t>SEASONAL SHAPE</a:t>
            </a:r>
            <a:endParaRPr lang="en-US" sz="1000" dirty="0"/>
          </a:p>
        </p:txBody>
      </p:sp>
      <p:sp>
        <p:nvSpPr>
          <p:cNvPr id="5" name="Text 3"/>
          <p:cNvSpPr/>
          <p:nvPr/>
        </p:nvSpPr>
        <p:spPr>
          <a:xfrm>
            <a:off x="457200" y="310896"/>
            <a:ext cx="9966960" cy="457200"/>
          </a:xfrm>
          <a:prstGeom prst="rect">
            <a:avLst/>
          </a:prstGeom>
          <a:noFill/>
          <a:ln/>
        </p:spPr>
        <p:txBody>
          <a:bodyPr wrap="square" rtlCol="0" anchor="ctr"/>
          <a:lstStyle/>
          <a:p>
            <a:pPr indent="0" marL="0">
              <a:buNone/>
            </a:pPr>
            <a:r>
              <a:rPr lang="en-US" sz="2300" b="1" dirty="0">
                <a:solidFill>
                  <a:srgbClr val="1B201D"/>
                </a:solidFill>
                <a:latin typeface="Segoe UI" pitchFamily="34" charset="0"/>
                <a:ea typeface="Segoe UI" pitchFamily="34" charset="-122"/>
                <a:cs typeface="Segoe UI" pitchFamily="34" charset="-120"/>
              </a:rPr>
              <a:t>The same day, month by month</a:t>
            </a:r>
            <a:endParaRPr lang="en-US" sz="2300" dirty="0"/>
          </a:p>
        </p:txBody>
      </p:sp>
      <p:pic>
        <p:nvPicPr>
          <p:cNvPr id="6" name="Image 0" descr="preencoded.png">    </p:cNvPr>
          <p:cNvPicPr>
            <a:picLocks noChangeAspect="1"/>
          </p:cNvPicPr>
          <p:nvPr/>
        </p:nvPicPr>
        <p:blipFill>
          <a:blip r:embed="rId1"/>
          <a:stretch>
            <a:fillRect/>
          </a:stretch>
        </p:blipFill>
        <p:spPr>
          <a:xfrm>
            <a:off x="10561320" y="245059"/>
            <a:ext cx="1170432" cy="351130"/>
          </a:xfrm>
          <a:prstGeom prst="rect">
            <a:avLst/>
          </a:prstGeom>
        </p:spPr>
      </p:pic>
      <p:sp>
        <p:nvSpPr>
          <p:cNvPr id="7" name="Text 4"/>
          <p:cNvSpPr/>
          <p:nvPr/>
        </p:nvSpPr>
        <p:spPr>
          <a:xfrm>
            <a:off x="457200" y="6473952"/>
            <a:ext cx="9601200" cy="274320"/>
          </a:xfrm>
          <a:prstGeom prst="rect">
            <a:avLst/>
          </a:prstGeom>
          <a:noFill/>
          <a:ln/>
        </p:spPr>
        <p:txBody>
          <a:bodyPr wrap="square" rtlCol="0" anchor="ctr"/>
          <a:lstStyle/>
          <a:p>
            <a:pPr indent="0" marL="0">
              <a:buNone/>
            </a:pPr>
            <a:r>
              <a:rPr lang="en-US" sz="850" dirty="0">
                <a:solidFill>
                  <a:srgbClr val="849A8F"/>
                </a:solidFill>
                <a:latin typeface="Segoe UI" pitchFamily="34" charset="0"/>
                <a:ea typeface="Segoe UI" pitchFamily="34" charset="-122"/>
                <a:cs typeface="Segoe UI" pitchFamily="34" charset="-120"/>
              </a:rPr>
              <a:t>NextNRG   ·   1901 Convention Ctr Dr, Miami Beach, FL   ·   8/27/2026</a:t>
            </a:r>
            <a:endParaRPr lang="en-US" sz="850" dirty="0"/>
          </a:p>
        </p:txBody>
      </p:sp>
      <p:sp>
        <p:nvSpPr>
          <p:cNvPr id="8" name="Text 5"/>
          <p:cNvSpPr/>
          <p:nvPr/>
        </p:nvSpPr>
        <p:spPr>
          <a:xfrm>
            <a:off x="11338560" y="6473952"/>
            <a:ext cx="457200" cy="274320"/>
          </a:xfrm>
          <a:prstGeom prst="rect">
            <a:avLst/>
          </a:prstGeom>
          <a:noFill/>
          <a:ln/>
        </p:spPr>
        <p:txBody>
          <a:bodyPr wrap="square" rtlCol="0" anchor="ctr"/>
          <a:lstStyle/>
          <a:p>
            <a:pPr algn="r" indent="0" marL="0">
              <a:buNone/>
            </a:pPr>
            <a:r>
              <a:rPr lang="en-US" sz="850" dirty="0">
                <a:solidFill>
                  <a:srgbClr val="849A8F"/>
                </a:solidFill>
                <a:latin typeface="Segoe UI" pitchFamily="34" charset="0"/>
                <a:ea typeface="Segoe UI" pitchFamily="34" charset="-122"/>
                <a:cs typeface="Segoe UI" pitchFamily="34" charset="-120"/>
              </a:rPr>
              <a:t>4</a:t>
            </a:r>
            <a:endParaRPr lang="en-US" sz="850" dirty="0"/>
          </a:p>
        </p:txBody>
      </p:sp>
      <p:pic>
        <p:nvPicPr>
          <p:cNvPr id="9" name="Image 1" descr="preencoded.png">    </p:cNvPr>
          <p:cNvPicPr>
            <a:picLocks noChangeAspect="1"/>
          </p:cNvPicPr>
          <p:nvPr/>
        </p:nvPicPr>
        <p:blipFill>
          <a:blip r:embed="rId2"/>
          <a:stretch>
            <a:fillRect/>
          </a:stretch>
        </p:blipFill>
        <p:spPr>
          <a:xfrm>
            <a:off x="457200" y="1143000"/>
            <a:ext cx="11274552" cy="4480560"/>
          </a:xfrm>
          <a:prstGeom prst="rect">
            <a:avLst/>
          </a:prstGeom>
        </p:spPr>
      </p:pic>
      <p:sp>
        <p:nvSpPr>
          <p:cNvPr id="10" name="Text 6"/>
          <p:cNvSpPr/>
          <p:nvPr/>
        </p:nvSpPr>
        <p:spPr>
          <a:xfrm>
            <a:off x="457200" y="6053328"/>
            <a:ext cx="11338560" cy="384048"/>
          </a:xfrm>
          <a:prstGeom prst="rect">
            <a:avLst/>
          </a:prstGeom>
          <a:noFill/>
          <a:ln/>
        </p:spPr>
        <p:txBody>
          <a:bodyPr wrap="square" rtlCol="0" anchor="ctr"/>
          <a:lstStyle/>
          <a:p>
            <a:pPr indent="0" marL="0">
              <a:buNone/>
            </a:pPr>
            <a:r>
              <a:rPr lang="en-US" sz="950" i="1" dirty="0">
                <a:solidFill>
                  <a:srgbClr val="5A7266"/>
                </a:solidFill>
                <a:latin typeface="Segoe UI" pitchFamily="34" charset="0"/>
                <a:ea typeface="Segoe UI" pitchFamily="34" charset="-122"/>
                <a:cs typeface="Segoe UI" pitchFamily="34" charset="-120"/>
              </a:rPr>
              <a:t>Each line is the average day for that month across the modelled year, so it already contains the cloudy days as well as the clear ones. The window of useful output narrows by roughly five hours between midsummer and midwinter at this latitude.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41248"/>
          </a:xfrm>
          <a:prstGeom prst="rect">
            <a:avLst/>
          </a:prstGeom>
          <a:solidFill>
            <a:srgbClr val="F7F9F8"/>
          </a:solidFill>
          <a:ln w="12700">
            <a:solidFill>
              <a:srgbClr val="F7F9F8"/>
            </a:solidFill>
            <a:prstDash val="solid"/>
          </a:ln>
        </p:spPr>
      </p:sp>
      <p:sp>
        <p:nvSpPr>
          <p:cNvPr id="3" name="Shape 1"/>
          <p:cNvSpPr/>
          <p:nvPr/>
        </p:nvSpPr>
        <p:spPr>
          <a:xfrm>
            <a:off x="0" y="841248"/>
            <a:ext cx="12191695" cy="25603"/>
          </a:xfrm>
          <a:prstGeom prst="rect">
            <a:avLst/>
          </a:prstGeom>
          <a:solidFill>
            <a:srgbClr val="008742"/>
          </a:solidFill>
          <a:ln w="12700">
            <a:solidFill>
              <a:srgbClr val="008742"/>
            </a:solidFill>
            <a:prstDash val="solid"/>
          </a:ln>
        </p:spPr>
      </p:sp>
      <p:sp>
        <p:nvSpPr>
          <p:cNvPr id="4" name="Text 2"/>
          <p:cNvSpPr/>
          <p:nvPr/>
        </p:nvSpPr>
        <p:spPr>
          <a:xfrm>
            <a:off x="457200" y="91440"/>
            <a:ext cx="11338560" cy="237744"/>
          </a:xfrm>
          <a:prstGeom prst="rect">
            <a:avLst/>
          </a:prstGeom>
          <a:noFill/>
          <a:ln/>
        </p:spPr>
        <p:txBody>
          <a:bodyPr wrap="square" rtlCol="0" anchor="ctr"/>
          <a:lstStyle/>
          <a:p>
            <a:pPr indent="0" marL="0">
              <a:buNone/>
            </a:pPr>
            <a:r>
              <a:rPr lang="en-US" sz="1000" b="1" spc="160" kern="0" dirty="0">
                <a:solidFill>
                  <a:srgbClr val="008742"/>
                </a:solidFill>
                <a:latin typeface="Consolas" pitchFamily="34" charset="0"/>
                <a:ea typeface="Consolas" pitchFamily="34" charset="-122"/>
                <a:cs typeface="Consolas" pitchFamily="34" charset="-120"/>
              </a:rPr>
              <a:t>LOSS CHAIN</a:t>
            </a:r>
            <a:endParaRPr lang="en-US" sz="1000" dirty="0"/>
          </a:p>
        </p:txBody>
      </p:sp>
      <p:sp>
        <p:nvSpPr>
          <p:cNvPr id="5" name="Text 3"/>
          <p:cNvSpPr/>
          <p:nvPr/>
        </p:nvSpPr>
        <p:spPr>
          <a:xfrm>
            <a:off x="457200" y="310896"/>
            <a:ext cx="9966960" cy="457200"/>
          </a:xfrm>
          <a:prstGeom prst="rect">
            <a:avLst/>
          </a:prstGeom>
          <a:noFill/>
          <a:ln/>
        </p:spPr>
        <p:txBody>
          <a:bodyPr wrap="square" rtlCol="0" anchor="ctr"/>
          <a:lstStyle/>
          <a:p>
            <a:pPr indent="0" marL="0">
              <a:buNone/>
            </a:pPr>
            <a:r>
              <a:rPr lang="en-US" sz="2300" b="1" dirty="0">
                <a:solidFill>
                  <a:srgbClr val="1B201D"/>
                </a:solidFill>
                <a:latin typeface="Segoe UI" pitchFamily="34" charset="0"/>
                <a:ea typeface="Segoe UI" pitchFamily="34" charset="-122"/>
                <a:cs typeface="Segoe UI" pitchFamily="34" charset="-120"/>
              </a:rPr>
              <a:t>From sunlight to the meter</a:t>
            </a:r>
            <a:endParaRPr lang="en-US" sz="2300" dirty="0"/>
          </a:p>
        </p:txBody>
      </p:sp>
      <p:pic>
        <p:nvPicPr>
          <p:cNvPr id="6" name="Image 0" descr="preencoded.png">    </p:cNvPr>
          <p:cNvPicPr>
            <a:picLocks noChangeAspect="1"/>
          </p:cNvPicPr>
          <p:nvPr/>
        </p:nvPicPr>
        <p:blipFill>
          <a:blip r:embed="rId1"/>
          <a:stretch>
            <a:fillRect/>
          </a:stretch>
        </p:blipFill>
        <p:spPr>
          <a:xfrm>
            <a:off x="10561320" y="245059"/>
            <a:ext cx="1170432" cy="351130"/>
          </a:xfrm>
          <a:prstGeom prst="rect">
            <a:avLst/>
          </a:prstGeom>
        </p:spPr>
      </p:pic>
      <p:sp>
        <p:nvSpPr>
          <p:cNvPr id="7" name="Text 4"/>
          <p:cNvSpPr/>
          <p:nvPr/>
        </p:nvSpPr>
        <p:spPr>
          <a:xfrm>
            <a:off x="457200" y="6473952"/>
            <a:ext cx="9601200" cy="274320"/>
          </a:xfrm>
          <a:prstGeom prst="rect">
            <a:avLst/>
          </a:prstGeom>
          <a:noFill/>
          <a:ln/>
        </p:spPr>
        <p:txBody>
          <a:bodyPr wrap="square" rtlCol="0" anchor="ctr"/>
          <a:lstStyle/>
          <a:p>
            <a:pPr indent="0" marL="0">
              <a:buNone/>
            </a:pPr>
            <a:r>
              <a:rPr lang="en-US" sz="850" dirty="0">
                <a:solidFill>
                  <a:srgbClr val="849A8F"/>
                </a:solidFill>
                <a:latin typeface="Segoe UI" pitchFamily="34" charset="0"/>
                <a:ea typeface="Segoe UI" pitchFamily="34" charset="-122"/>
                <a:cs typeface="Segoe UI" pitchFamily="34" charset="-120"/>
              </a:rPr>
              <a:t>NextNRG   ·   1901 Convention Ctr Dr, Miami Beach, FL   ·   8/27/2026</a:t>
            </a:r>
            <a:endParaRPr lang="en-US" sz="850" dirty="0"/>
          </a:p>
        </p:txBody>
      </p:sp>
      <p:sp>
        <p:nvSpPr>
          <p:cNvPr id="8" name="Text 5"/>
          <p:cNvSpPr/>
          <p:nvPr/>
        </p:nvSpPr>
        <p:spPr>
          <a:xfrm>
            <a:off x="11338560" y="6473952"/>
            <a:ext cx="457200" cy="274320"/>
          </a:xfrm>
          <a:prstGeom prst="rect">
            <a:avLst/>
          </a:prstGeom>
          <a:noFill/>
          <a:ln/>
        </p:spPr>
        <p:txBody>
          <a:bodyPr wrap="square" rtlCol="0" anchor="ctr"/>
          <a:lstStyle/>
          <a:p>
            <a:pPr algn="r" indent="0" marL="0">
              <a:buNone/>
            </a:pPr>
            <a:r>
              <a:rPr lang="en-US" sz="850" dirty="0">
                <a:solidFill>
                  <a:srgbClr val="849A8F"/>
                </a:solidFill>
                <a:latin typeface="Segoe UI" pitchFamily="34" charset="0"/>
                <a:ea typeface="Segoe UI" pitchFamily="34" charset="-122"/>
                <a:cs typeface="Segoe UI" pitchFamily="34" charset="-120"/>
              </a:rPr>
              <a:t>5</a:t>
            </a:r>
            <a:endParaRPr lang="en-US" sz="8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70432"/>
          <a:ext cx="11274552" cy="914400"/>
        </p:xfrm>
        <a:graphic>
          <a:graphicData uri="http://schemas.openxmlformats.org/drawingml/2006/table">
            <a:tbl>
              <a:tblPr/>
              <a:tblGrid>
                <a:gridCol w="3017520"/>
                <a:gridCol w="1828800"/>
                <a:gridCol w="6428232"/>
              </a:tblGrid>
              <a:tr h="274320">
                <a:tc>
                  <a:txBody>
                    <a:bodyPr/>
                    <a:lstStyle/>
                    <a:p>
                      <a:pPr indent="0" marL="0">
                        <a:buNone/>
                      </a:pPr>
                      <a:r>
                        <a:rPr lang="en-US" sz="1050" b="1" dirty="0">
                          <a:solidFill>
                            <a:srgbClr val="5A7266"/>
                          </a:solidFill>
                          <a:latin typeface="Segoe UI" pitchFamily="34" charset="0"/>
                          <a:ea typeface="Segoe UI" pitchFamily="34" charset="-122"/>
                          <a:cs typeface="Segoe UI" pitchFamily="34" charset="-120"/>
                        </a:rPr>
                        <a:t>Step</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7F9F8"/>
                    </a:solidFill>
                  </a:tcPr>
                </a:tc>
                <a:tc>
                  <a:txBody>
                    <a:bodyPr/>
                    <a:lstStyle/>
                    <a:p>
                      <a:pPr algn="r" indent="0" marL="0">
                        <a:buNone/>
                      </a:pPr>
                      <a:r>
                        <a:rPr lang="en-US" sz="1050" b="1" dirty="0">
                          <a:solidFill>
                            <a:srgbClr val="5A7266"/>
                          </a:solidFill>
                          <a:latin typeface="Segoe UI" pitchFamily="34" charset="0"/>
                          <a:ea typeface="Segoe UI" pitchFamily="34" charset="-122"/>
                          <a:cs typeface="Segoe UI" pitchFamily="34" charset="-120"/>
                        </a:rPr>
                        <a:t>Effect</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7F9F8"/>
                    </a:solidFill>
                  </a:tcPr>
                </a:tc>
                <a:tc>
                  <a:txBody>
                    <a:bodyPr/>
                    <a:lstStyle/>
                    <a:p>
                      <a:pPr indent="0" marL="0">
                        <a:buNone/>
                      </a:pPr>
                      <a:r>
                        <a:rPr lang="en-US" sz="1050" b="1" dirty="0">
                          <a:solidFill>
                            <a:srgbClr val="5A7266"/>
                          </a:solidFill>
                          <a:latin typeface="Segoe UI" pitchFamily="34" charset="0"/>
                          <a:ea typeface="Segoe UI" pitchFamily="34" charset="-122"/>
                          <a:cs typeface="Segoe UI" pitchFamily="34" charset="-120"/>
                        </a:rPr>
                        <a:t>What it is</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7F9F8"/>
                    </a:solidFill>
                  </a:tcPr>
                </a:tc>
              </a:tr>
              <a:tr h="274320">
                <a:tc>
                  <a:txBody>
                    <a:bodyPr/>
                    <a:lstStyle/>
                    <a:p>
                      <a:pPr indent="0" marL="0">
                        <a:buNone/>
                      </a:pPr>
                      <a:r>
                        <a:rPr lang="en-US" sz="1050" dirty="0">
                          <a:solidFill>
                            <a:srgbClr val="1B201D"/>
                          </a:solidFill>
                          <a:latin typeface="Segoe UI" pitchFamily="34" charset="0"/>
                          <a:ea typeface="Segoe UI" pitchFamily="34" charset="-122"/>
                          <a:cs typeface="Segoe UI" pitchFamily="34" charset="-120"/>
                        </a:rPr>
                        <a:t>Plane-of-array irradiation</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5A7266"/>
                          </a:solidFill>
                          <a:latin typeface="Segoe UI" pitchFamily="34" charset="0"/>
                          <a:ea typeface="Segoe UI" pitchFamily="34" charset="-122"/>
                          <a:cs typeface="Segoe UI" pitchFamily="34" charset="-120"/>
                        </a:rPr>
                        <a:t>1,796 kWh/m²</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000" dirty="0">
                          <a:solidFill>
                            <a:srgbClr val="5A7266"/>
                          </a:solidFill>
                          <a:latin typeface="Segoe UI" pitchFamily="34" charset="0"/>
                          <a:ea typeface="Segoe UI" pitchFamily="34" charset="-122"/>
                          <a:cs typeface="Segoe UI" pitchFamily="34" charset="-120"/>
                        </a:rPr>
                        <a:t>Sunlight actually striking the modules at this tilt and azimuth, after transposition.</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B201D"/>
                          </a:solidFill>
                          <a:latin typeface="Segoe UI" pitchFamily="34" charset="0"/>
                          <a:ea typeface="Segoe UI" pitchFamily="34" charset="-122"/>
                          <a:cs typeface="Segoe UI" pitchFamily="34" charset="-120"/>
                        </a:rPr>
                        <a:t>Soiling</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EA6406"/>
                          </a:solidFill>
                          <a:latin typeface="Segoe UI" pitchFamily="34" charset="0"/>
                          <a:ea typeface="Segoe UI" pitchFamily="34" charset="-122"/>
                          <a:cs typeface="Segoe UI" pitchFamily="34" charset="-120"/>
                        </a:rPr>
                        <a:t>−2.0%</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000" dirty="0">
                          <a:solidFill>
                            <a:srgbClr val="5A7266"/>
                          </a:solidFill>
                          <a:latin typeface="Segoe UI" pitchFamily="34" charset="0"/>
                          <a:ea typeface="Segoe UI" pitchFamily="34" charset="-122"/>
                          <a:cs typeface="Segoe UI" pitchFamily="34" charset="-120"/>
                        </a:rPr>
                        <a:t>Dust and dirt on the glass between washes.</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B201D"/>
                          </a:solidFill>
                          <a:latin typeface="Segoe UI" pitchFamily="34" charset="0"/>
                          <a:ea typeface="Segoe UI" pitchFamily="34" charset="-122"/>
                          <a:cs typeface="Segoe UI" pitchFamily="34" charset="-120"/>
                        </a:rPr>
                        <a:t>Mismatch</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EA6406"/>
                          </a:solidFill>
                          <a:latin typeface="Segoe UI" pitchFamily="34" charset="0"/>
                          <a:ea typeface="Segoe UI" pitchFamily="34" charset="-122"/>
                          <a:cs typeface="Segoe UI" pitchFamily="34" charset="-120"/>
                        </a:rPr>
                        <a:t>−2.0%</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000" dirty="0">
                          <a:solidFill>
                            <a:srgbClr val="5A7266"/>
                          </a:solidFill>
                          <a:latin typeface="Segoe UI" pitchFamily="34" charset="0"/>
                          <a:ea typeface="Segoe UI" pitchFamily="34" charset="-122"/>
                          <a:cs typeface="Segoe UI" pitchFamily="34" charset="-120"/>
                        </a:rPr>
                        <a:t>Modules in a string never perform identically.</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B201D"/>
                          </a:solidFill>
                          <a:latin typeface="Segoe UI" pitchFamily="34" charset="0"/>
                          <a:ea typeface="Segoe UI" pitchFamily="34" charset="-122"/>
                          <a:cs typeface="Segoe UI" pitchFamily="34" charset="-120"/>
                        </a:rPr>
                        <a:t>Wiring</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EA6406"/>
                          </a:solidFill>
                          <a:latin typeface="Segoe UI" pitchFamily="34" charset="0"/>
                          <a:ea typeface="Segoe UI" pitchFamily="34" charset="-122"/>
                          <a:cs typeface="Segoe UI" pitchFamily="34" charset="-120"/>
                        </a:rPr>
                        <a:t>−2.0%</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000" dirty="0">
                          <a:solidFill>
                            <a:srgbClr val="5A7266"/>
                          </a:solidFill>
                          <a:latin typeface="Segoe UI" pitchFamily="34" charset="0"/>
                          <a:ea typeface="Segoe UI" pitchFamily="34" charset="-122"/>
                          <a:cs typeface="Segoe UI" pitchFamily="34" charset="-120"/>
                        </a:rPr>
                        <a:t>Resistive loss in DC and AC conductors.</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B201D"/>
                          </a:solidFill>
                          <a:latin typeface="Segoe UI" pitchFamily="34" charset="0"/>
                          <a:ea typeface="Segoe UI" pitchFamily="34" charset="-122"/>
                          <a:cs typeface="Segoe UI" pitchFamily="34" charset="-120"/>
                        </a:rPr>
                        <a:t>Connections</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EA6406"/>
                          </a:solidFill>
                          <a:latin typeface="Segoe UI" pitchFamily="34" charset="0"/>
                          <a:ea typeface="Segoe UI" pitchFamily="34" charset="-122"/>
                          <a:cs typeface="Segoe UI" pitchFamily="34" charset="-120"/>
                        </a:rPr>
                        <a:t>−0.5%</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000" dirty="0">
                          <a:solidFill>
                            <a:srgbClr val="5A7266"/>
                          </a:solidFill>
                          <a:latin typeface="Segoe UI" pitchFamily="34" charset="0"/>
                          <a:ea typeface="Segoe UI" pitchFamily="34" charset="-122"/>
                          <a:cs typeface="Segoe UI" pitchFamily="34" charset="-120"/>
                        </a:rPr>
                        <a:t>Contact resistance across connectors and terminals.</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B201D"/>
                          </a:solidFill>
                          <a:latin typeface="Segoe UI" pitchFamily="34" charset="0"/>
                          <a:ea typeface="Segoe UI" pitchFamily="34" charset="-122"/>
                          <a:cs typeface="Segoe UI" pitchFamily="34" charset="-120"/>
                        </a:rPr>
                        <a:t>Lid</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EA6406"/>
                          </a:solidFill>
                          <a:latin typeface="Segoe UI" pitchFamily="34" charset="0"/>
                          <a:ea typeface="Segoe UI" pitchFamily="34" charset="-122"/>
                          <a:cs typeface="Segoe UI" pitchFamily="34" charset="-120"/>
                        </a:rPr>
                        <a:t>−1.5%</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000" dirty="0">
                          <a:solidFill>
                            <a:srgbClr val="5A7266"/>
                          </a:solidFill>
                          <a:latin typeface="Segoe UI" pitchFamily="34" charset="0"/>
                          <a:ea typeface="Segoe UI" pitchFamily="34" charset="-122"/>
                          <a:cs typeface="Segoe UI" pitchFamily="34" charset="-120"/>
                        </a:rPr>
                        <a:t>Light-induced degradation in the first weeks of operation.</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B201D"/>
                          </a:solidFill>
                          <a:latin typeface="Segoe UI" pitchFamily="34" charset="0"/>
                          <a:ea typeface="Segoe UI" pitchFamily="34" charset="-122"/>
                          <a:cs typeface="Segoe UI" pitchFamily="34" charset="-120"/>
                        </a:rPr>
                        <a:t>Nameplate</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EA6406"/>
                          </a:solidFill>
                          <a:latin typeface="Segoe UI" pitchFamily="34" charset="0"/>
                          <a:ea typeface="Segoe UI" pitchFamily="34" charset="-122"/>
                          <a:cs typeface="Segoe UI" pitchFamily="34" charset="-120"/>
                        </a:rPr>
                        <a:t>−1.0%</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000" dirty="0">
                          <a:solidFill>
                            <a:srgbClr val="5A7266"/>
                          </a:solidFill>
                          <a:latin typeface="Segoe UI" pitchFamily="34" charset="0"/>
                          <a:ea typeface="Segoe UI" pitchFamily="34" charset="-122"/>
                          <a:cs typeface="Segoe UI" pitchFamily="34" charset="-120"/>
                        </a:rPr>
                        <a:t>Manufacturing tolerance against the nameplate rating.</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B201D"/>
                          </a:solidFill>
                          <a:latin typeface="Segoe UI" pitchFamily="34" charset="0"/>
                          <a:ea typeface="Segoe UI" pitchFamily="34" charset="-122"/>
                          <a:cs typeface="Segoe UI" pitchFamily="34" charset="-120"/>
                        </a:rPr>
                        <a:t>Availability</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EA6406"/>
                          </a:solidFill>
                          <a:latin typeface="Segoe UI" pitchFamily="34" charset="0"/>
                          <a:ea typeface="Segoe UI" pitchFamily="34" charset="-122"/>
                          <a:cs typeface="Segoe UI" pitchFamily="34" charset="-120"/>
                        </a:rPr>
                        <a:t>−3.0%</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000" dirty="0">
                          <a:solidFill>
                            <a:srgbClr val="5A7266"/>
                          </a:solidFill>
                          <a:latin typeface="Segoe UI" pitchFamily="34" charset="0"/>
                          <a:ea typeface="Segoe UI" pitchFamily="34" charset="-122"/>
                          <a:cs typeface="Segoe UI" pitchFamily="34" charset="-120"/>
                        </a:rPr>
                        <a:t>Time the plant is out for maintenance or faults.</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B201D"/>
                          </a:solidFill>
                          <a:latin typeface="Segoe UI" pitchFamily="34" charset="0"/>
                          <a:ea typeface="Segoe UI" pitchFamily="34" charset="-122"/>
                          <a:cs typeface="Segoe UI" pitchFamily="34" charset="-120"/>
                        </a:rPr>
                        <a:t>Shading</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EA6406"/>
                          </a:solidFill>
                          <a:latin typeface="Segoe UI" pitchFamily="34" charset="0"/>
                          <a:ea typeface="Segoe UI" pitchFamily="34" charset="-122"/>
                          <a:cs typeface="Segoe UI" pitchFamily="34" charset="-120"/>
                        </a:rPr>
                        <a:t>−3.0%</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000" dirty="0">
                          <a:solidFill>
                            <a:srgbClr val="5A7266"/>
                          </a:solidFill>
                          <a:latin typeface="Segoe UI" pitchFamily="34" charset="0"/>
                          <a:ea typeface="Segoe UI" pitchFamily="34" charset="-122"/>
                          <a:cs typeface="Segoe UI" pitchFamily="34" charset="-120"/>
                        </a:rPr>
                        <a:t>Row-to-row and object shading.</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B201D"/>
                          </a:solidFill>
                          <a:latin typeface="Segoe UI" pitchFamily="34" charset="0"/>
                          <a:ea typeface="Segoe UI" pitchFamily="34" charset="-122"/>
                          <a:cs typeface="Segoe UI" pitchFamily="34" charset="-120"/>
                        </a:rPr>
                        <a:t>Temperature</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EA6406"/>
                          </a:solidFill>
                          <a:latin typeface="Segoe UI" pitchFamily="34" charset="0"/>
                          <a:ea typeface="Segoe UI" pitchFamily="34" charset="-122"/>
                          <a:cs typeface="Segoe UI" pitchFamily="34" charset="-120"/>
                        </a:rPr>
                        <a:t>varies hourly</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000" dirty="0">
                          <a:solidFill>
                            <a:srgbClr val="5A7266"/>
                          </a:solidFill>
                          <a:latin typeface="Segoe UI" pitchFamily="34" charset="0"/>
                          <a:ea typeface="Segoe UI" pitchFamily="34" charset="-122"/>
                          <a:cs typeface="Segoe UI" pitchFamily="34" charset="-120"/>
                        </a:rPr>
                        <a:t>Cell temperature from the Sandia model; output falls about 0.35% per °C above 25°C.</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B201D"/>
                          </a:solidFill>
                          <a:latin typeface="Segoe UI" pitchFamily="34" charset="0"/>
                          <a:ea typeface="Segoe UI" pitchFamily="34" charset="-122"/>
                          <a:cs typeface="Segoe UI" pitchFamily="34" charset="-120"/>
                        </a:rPr>
                        <a:t>Inverter</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EA6406"/>
                          </a:solidFill>
                          <a:latin typeface="Segoe UI" pitchFamily="34" charset="0"/>
                          <a:ea typeface="Segoe UI" pitchFamily="34" charset="-122"/>
                          <a:cs typeface="Segoe UI" pitchFamily="34" charset="-120"/>
                        </a:rPr>
                        <a:t>part-load curve</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000" dirty="0">
                          <a:solidFill>
                            <a:srgbClr val="5A7266"/>
                          </a:solidFill>
                          <a:latin typeface="Segoe UI" pitchFamily="34" charset="0"/>
                          <a:ea typeface="Segoe UI" pitchFamily="34" charset="-122"/>
                          <a:cs typeface="Segoe UI" pitchFamily="34" charset="-120"/>
                        </a:rPr>
                        <a:t>Efficiency falls away sharply below about 15% of rating — most of an hour near sunrise.</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B201D"/>
                          </a:solidFill>
                          <a:latin typeface="Segoe UI" pitchFamily="34" charset="0"/>
                          <a:ea typeface="Segoe UI" pitchFamily="34" charset="-122"/>
                          <a:cs typeface="Segoe UI" pitchFamily="34" charset="-120"/>
                        </a:rPr>
                        <a:t>Clipping</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EA6406"/>
                          </a:solidFill>
                          <a:latin typeface="Segoe UI" pitchFamily="34" charset="0"/>
                          <a:ea typeface="Segoe UI" pitchFamily="34" charset="-122"/>
                          <a:cs typeface="Segoe UI" pitchFamily="34" charset="-120"/>
                        </a:rPr>
                        <a:t>−8,451 kWh</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000" dirty="0">
                          <a:solidFill>
                            <a:srgbClr val="5A7266"/>
                          </a:solidFill>
                          <a:latin typeface="Segoe UI" pitchFamily="34" charset="0"/>
                          <a:ea typeface="Segoe UI" pitchFamily="34" charset="-122"/>
                          <a:cs typeface="Segoe UI" pitchFamily="34" charset="-120"/>
                        </a:rPr>
                        <a:t>DC above the inverter AC limit at a 1.25:1 ratio — 0.4% of gross, computed hour by hour.</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B201D"/>
                          </a:solidFill>
                          <a:latin typeface="Segoe UI" pitchFamily="34" charset="0"/>
                          <a:ea typeface="Segoe UI" pitchFamily="34" charset="-122"/>
                          <a:cs typeface="Segoe UI" pitchFamily="34" charset="-120"/>
                        </a:rPr>
                        <a:t>Delivered to the meter</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EA44F"/>
                          </a:solidFill>
                          <a:latin typeface="Segoe UI" pitchFamily="34" charset="0"/>
                          <a:ea typeface="Segoe UI" pitchFamily="34" charset="-122"/>
                          <a:cs typeface="Segoe UI" pitchFamily="34" charset="-120"/>
                        </a:rPr>
                        <a:t>1.87 GWh</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000" dirty="0">
                          <a:solidFill>
                            <a:srgbClr val="5A7266"/>
                          </a:solidFill>
                          <a:latin typeface="Segoe UI" pitchFamily="34" charset="0"/>
                          <a:ea typeface="Segoe UI" pitchFamily="34" charset="-122"/>
                          <a:cs typeface="Segoe UI" pitchFamily="34" charset="-120"/>
                        </a:rPr>
                        <a:t>What the array actually sends out over the year.</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bl>
          </a:graphicData>
        </a:graphic>
      </p:graphicFrame>
      <p:sp>
        <p:nvSpPr>
          <p:cNvPr id="10" name="Text 6"/>
          <p:cNvSpPr/>
          <p:nvPr/>
        </p:nvSpPr>
        <p:spPr>
          <a:xfrm>
            <a:off x="457200" y="6053328"/>
            <a:ext cx="11338560" cy="384048"/>
          </a:xfrm>
          <a:prstGeom prst="rect">
            <a:avLst/>
          </a:prstGeom>
          <a:noFill/>
          <a:ln/>
        </p:spPr>
        <p:txBody>
          <a:bodyPr wrap="square" rtlCol="0" anchor="ctr"/>
          <a:lstStyle/>
          <a:p>
            <a:pPr indent="0" marL="0">
              <a:buNone/>
            </a:pPr>
            <a:r>
              <a:rPr lang="en-US" sz="950" i="1" dirty="0">
                <a:solidFill>
                  <a:srgbClr val="5A7266"/>
                </a:solidFill>
                <a:latin typeface="Segoe UI" pitchFamily="34" charset="0"/>
                <a:ea typeface="Segoe UI" pitchFamily="34" charset="-122"/>
                <a:cs typeface="Segoe UI" pitchFamily="34" charset="-120"/>
              </a:rPr>
              <a:t>Every loss is listed separately rather than rolled into one blanket percentage, because a single figure hides which assumption is doing the work. Each one is editable in the model.</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41248"/>
          </a:xfrm>
          <a:prstGeom prst="rect">
            <a:avLst/>
          </a:prstGeom>
          <a:solidFill>
            <a:srgbClr val="F7F9F8"/>
          </a:solidFill>
          <a:ln w="12700">
            <a:solidFill>
              <a:srgbClr val="F7F9F8"/>
            </a:solidFill>
            <a:prstDash val="solid"/>
          </a:ln>
        </p:spPr>
      </p:sp>
      <p:sp>
        <p:nvSpPr>
          <p:cNvPr id="3" name="Shape 1"/>
          <p:cNvSpPr/>
          <p:nvPr/>
        </p:nvSpPr>
        <p:spPr>
          <a:xfrm>
            <a:off x="0" y="841248"/>
            <a:ext cx="12191695" cy="25603"/>
          </a:xfrm>
          <a:prstGeom prst="rect">
            <a:avLst/>
          </a:prstGeom>
          <a:solidFill>
            <a:srgbClr val="008742"/>
          </a:solidFill>
          <a:ln w="12700">
            <a:solidFill>
              <a:srgbClr val="008742"/>
            </a:solidFill>
            <a:prstDash val="solid"/>
          </a:ln>
        </p:spPr>
      </p:sp>
      <p:sp>
        <p:nvSpPr>
          <p:cNvPr id="4" name="Text 2"/>
          <p:cNvSpPr/>
          <p:nvPr/>
        </p:nvSpPr>
        <p:spPr>
          <a:xfrm>
            <a:off x="457200" y="91440"/>
            <a:ext cx="11338560" cy="237744"/>
          </a:xfrm>
          <a:prstGeom prst="rect">
            <a:avLst/>
          </a:prstGeom>
          <a:noFill/>
          <a:ln/>
        </p:spPr>
        <p:txBody>
          <a:bodyPr wrap="square" rtlCol="0" anchor="ctr"/>
          <a:lstStyle/>
          <a:p>
            <a:pPr indent="0" marL="0">
              <a:buNone/>
            </a:pPr>
            <a:r>
              <a:rPr lang="en-US" sz="1000" b="1" spc="160" kern="0" dirty="0">
                <a:solidFill>
                  <a:srgbClr val="008742"/>
                </a:solidFill>
                <a:latin typeface="Consolas" pitchFamily="34" charset="0"/>
                <a:ea typeface="Consolas" pitchFamily="34" charset="-122"/>
                <a:cs typeface="Consolas" pitchFamily="34" charset="-120"/>
              </a:rPr>
              <a:t>COINCIDENCE</a:t>
            </a:r>
            <a:endParaRPr lang="en-US" sz="1000" dirty="0"/>
          </a:p>
        </p:txBody>
      </p:sp>
      <p:sp>
        <p:nvSpPr>
          <p:cNvPr id="5" name="Text 3"/>
          <p:cNvSpPr/>
          <p:nvPr/>
        </p:nvSpPr>
        <p:spPr>
          <a:xfrm>
            <a:off x="457200" y="310896"/>
            <a:ext cx="9966960" cy="457200"/>
          </a:xfrm>
          <a:prstGeom prst="rect">
            <a:avLst/>
          </a:prstGeom>
          <a:noFill/>
          <a:ln/>
        </p:spPr>
        <p:txBody>
          <a:bodyPr wrap="square" rtlCol="0" anchor="ctr"/>
          <a:lstStyle/>
          <a:p>
            <a:pPr indent="0" marL="0">
              <a:buNone/>
            </a:pPr>
            <a:r>
              <a:rPr lang="en-US" sz="2300" b="1" dirty="0">
                <a:solidFill>
                  <a:srgbClr val="1B201D"/>
                </a:solidFill>
                <a:latin typeface="Segoe UI" pitchFamily="34" charset="0"/>
                <a:ea typeface="Segoe UI" pitchFamily="34" charset="-122"/>
                <a:cs typeface="Segoe UI" pitchFamily="34" charset="-120"/>
              </a:rPr>
              <a:t>Load against generation on the worst day</a:t>
            </a:r>
            <a:endParaRPr lang="en-US" sz="2300" dirty="0"/>
          </a:p>
        </p:txBody>
      </p:sp>
      <p:pic>
        <p:nvPicPr>
          <p:cNvPr id="6" name="Image 0" descr="preencoded.png">    </p:cNvPr>
          <p:cNvPicPr>
            <a:picLocks noChangeAspect="1"/>
          </p:cNvPicPr>
          <p:nvPr/>
        </p:nvPicPr>
        <p:blipFill>
          <a:blip r:embed="rId1"/>
          <a:stretch>
            <a:fillRect/>
          </a:stretch>
        </p:blipFill>
        <p:spPr>
          <a:xfrm>
            <a:off x="10561320" y="245059"/>
            <a:ext cx="1170432" cy="351130"/>
          </a:xfrm>
          <a:prstGeom prst="rect">
            <a:avLst/>
          </a:prstGeom>
        </p:spPr>
      </p:pic>
      <p:sp>
        <p:nvSpPr>
          <p:cNvPr id="7" name="Text 4"/>
          <p:cNvSpPr/>
          <p:nvPr/>
        </p:nvSpPr>
        <p:spPr>
          <a:xfrm>
            <a:off x="457200" y="6473952"/>
            <a:ext cx="9601200" cy="274320"/>
          </a:xfrm>
          <a:prstGeom prst="rect">
            <a:avLst/>
          </a:prstGeom>
          <a:noFill/>
          <a:ln/>
        </p:spPr>
        <p:txBody>
          <a:bodyPr wrap="square" rtlCol="0" anchor="ctr"/>
          <a:lstStyle/>
          <a:p>
            <a:pPr indent="0" marL="0">
              <a:buNone/>
            </a:pPr>
            <a:r>
              <a:rPr lang="en-US" sz="850" dirty="0">
                <a:solidFill>
                  <a:srgbClr val="849A8F"/>
                </a:solidFill>
                <a:latin typeface="Segoe UI" pitchFamily="34" charset="0"/>
                <a:ea typeface="Segoe UI" pitchFamily="34" charset="-122"/>
                <a:cs typeface="Segoe UI" pitchFamily="34" charset="-120"/>
              </a:rPr>
              <a:t>NextNRG   ·   1901 Convention Ctr Dr, Miami Beach, FL   ·   8/27/2026</a:t>
            </a:r>
            <a:endParaRPr lang="en-US" sz="850" dirty="0"/>
          </a:p>
        </p:txBody>
      </p:sp>
      <p:sp>
        <p:nvSpPr>
          <p:cNvPr id="8" name="Text 5"/>
          <p:cNvSpPr/>
          <p:nvPr/>
        </p:nvSpPr>
        <p:spPr>
          <a:xfrm>
            <a:off x="11338560" y="6473952"/>
            <a:ext cx="457200" cy="274320"/>
          </a:xfrm>
          <a:prstGeom prst="rect">
            <a:avLst/>
          </a:prstGeom>
          <a:noFill/>
          <a:ln/>
        </p:spPr>
        <p:txBody>
          <a:bodyPr wrap="square" rtlCol="0" anchor="ctr"/>
          <a:lstStyle/>
          <a:p>
            <a:pPr algn="r" indent="0" marL="0">
              <a:buNone/>
            </a:pPr>
            <a:r>
              <a:rPr lang="en-US" sz="850" dirty="0">
                <a:solidFill>
                  <a:srgbClr val="849A8F"/>
                </a:solidFill>
                <a:latin typeface="Segoe UI" pitchFamily="34" charset="0"/>
                <a:ea typeface="Segoe UI" pitchFamily="34" charset="-122"/>
                <a:cs typeface="Segoe UI" pitchFamily="34" charset="-120"/>
              </a:rPr>
              <a:t>6</a:t>
            </a:r>
            <a:endParaRPr lang="en-US" sz="850" dirty="0"/>
          </a:p>
        </p:txBody>
      </p:sp>
      <p:pic>
        <p:nvPicPr>
          <p:cNvPr id="9" name="Image 1" descr="preencoded.png">    </p:cNvPr>
          <p:cNvPicPr>
            <a:picLocks noChangeAspect="1"/>
          </p:cNvPicPr>
          <p:nvPr/>
        </p:nvPicPr>
        <p:blipFill>
          <a:blip r:embed="rId2"/>
          <a:stretch>
            <a:fillRect/>
          </a:stretch>
        </p:blipFill>
        <p:spPr>
          <a:xfrm>
            <a:off x="457200" y="1143000"/>
            <a:ext cx="11274552" cy="4114800"/>
          </a:xfrm>
          <a:prstGeom prst="rect">
            <a:avLst/>
          </a:prstGeom>
        </p:spPr>
      </p:pic>
      <p:sp>
        <p:nvSpPr>
          <p:cNvPr id="10" name="Text 6"/>
          <p:cNvSpPr/>
          <p:nvPr/>
        </p:nvSpPr>
        <p:spPr>
          <a:xfrm>
            <a:off x="457200" y="5394960"/>
            <a:ext cx="11274552" cy="960120"/>
          </a:xfrm>
          <a:prstGeom prst="rect">
            <a:avLst/>
          </a:prstGeom>
          <a:noFill/>
          <a:ln/>
        </p:spPr>
        <p:txBody>
          <a:bodyPr wrap="square" rtlCol="0" anchor="t"/>
          <a:lstStyle/>
          <a:p>
            <a:pPr indent="0" marL="0">
              <a:buNone/>
            </a:pPr>
            <a:r>
              <a:rPr lang="en-US" sz="1150" b="1" dirty="0">
                <a:solidFill>
                  <a:srgbClr val="1B201D"/>
                </a:solidFill>
                <a:latin typeface="Segoe UI" pitchFamily="34" charset="0"/>
                <a:ea typeface="Segoe UI" pitchFamily="34" charset="-122"/>
                <a:cs typeface="Segoe UI" pitchFamily="34" charset="-120"/>
              </a:rPr>
              <a:t>Solar carries energy, not demand. </a:t>
            </a:r>
            <a:pPr indent="0" marL="0">
              <a:buNone/>
            </a:pPr>
            <a:r>
              <a:rPr lang="en-US" sz="1150" dirty="0">
                <a:solidFill>
                  <a:srgbClr val="5A7266"/>
                </a:solidFill>
                <a:latin typeface="Segoe UI" pitchFamily="34" charset="0"/>
                <a:ea typeface="Segoe UI" pitchFamily="34" charset="-122"/>
                <a:cs typeface="Segoe UI" pitchFamily="34" charset="-120"/>
              </a:rPr>
              <a:t>Across the year the array supplies 1.86 GWh of the site’s 8.20 GWh — 23% of consumption — but it takes only 288 kW off the Jul billing peak of 1.80 MW, which is 16%. Billing demand is set by one interval, and that interval does not wait for a clear sky.</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41248"/>
          </a:xfrm>
          <a:prstGeom prst="rect">
            <a:avLst/>
          </a:prstGeom>
          <a:solidFill>
            <a:srgbClr val="F7F9F8"/>
          </a:solidFill>
          <a:ln w="12700">
            <a:solidFill>
              <a:srgbClr val="F7F9F8"/>
            </a:solidFill>
            <a:prstDash val="solid"/>
          </a:ln>
        </p:spPr>
      </p:sp>
      <p:sp>
        <p:nvSpPr>
          <p:cNvPr id="3" name="Shape 1"/>
          <p:cNvSpPr/>
          <p:nvPr/>
        </p:nvSpPr>
        <p:spPr>
          <a:xfrm>
            <a:off x="0" y="841248"/>
            <a:ext cx="12191695" cy="25603"/>
          </a:xfrm>
          <a:prstGeom prst="rect">
            <a:avLst/>
          </a:prstGeom>
          <a:solidFill>
            <a:srgbClr val="008742"/>
          </a:solidFill>
          <a:ln w="12700">
            <a:solidFill>
              <a:srgbClr val="008742"/>
            </a:solidFill>
            <a:prstDash val="solid"/>
          </a:ln>
        </p:spPr>
      </p:sp>
      <p:sp>
        <p:nvSpPr>
          <p:cNvPr id="4" name="Text 2"/>
          <p:cNvSpPr/>
          <p:nvPr/>
        </p:nvSpPr>
        <p:spPr>
          <a:xfrm>
            <a:off x="457200" y="91440"/>
            <a:ext cx="11338560" cy="237744"/>
          </a:xfrm>
          <a:prstGeom prst="rect">
            <a:avLst/>
          </a:prstGeom>
          <a:noFill/>
          <a:ln/>
        </p:spPr>
        <p:txBody>
          <a:bodyPr wrap="square" rtlCol="0" anchor="ctr"/>
          <a:lstStyle/>
          <a:p>
            <a:pPr indent="0" marL="0">
              <a:buNone/>
            </a:pPr>
            <a:r>
              <a:rPr lang="en-US" sz="1000" b="1" spc="160" kern="0" dirty="0">
                <a:solidFill>
                  <a:srgbClr val="008742"/>
                </a:solidFill>
                <a:latin typeface="Consolas" pitchFamily="34" charset="0"/>
                <a:ea typeface="Consolas" pitchFamily="34" charset="-122"/>
                <a:cs typeface="Consolas" pitchFamily="34" charset="-120"/>
              </a:rPr>
              <a:t>DEMAND SHAVING</a:t>
            </a:r>
            <a:endParaRPr lang="en-US" sz="1000" dirty="0"/>
          </a:p>
        </p:txBody>
      </p:sp>
      <p:sp>
        <p:nvSpPr>
          <p:cNvPr id="5" name="Text 3"/>
          <p:cNvSpPr/>
          <p:nvPr/>
        </p:nvSpPr>
        <p:spPr>
          <a:xfrm>
            <a:off x="457200" y="310896"/>
            <a:ext cx="9966960" cy="457200"/>
          </a:xfrm>
          <a:prstGeom prst="rect">
            <a:avLst/>
          </a:prstGeom>
          <a:noFill/>
          <a:ln/>
        </p:spPr>
        <p:txBody>
          <a:bodyPr wrap="square" rtlCol="0" anchor="ctr"/>
          <a:lstStyle/>
          <a:p>
            <a:pPr indent="0" marL="0">
              <a:buNone/>
            </a:pPr>
            <a:r>
              <a:rPr lang="en-US" sz="2300" b="1" dirty="0">
                <a:solidFill>
                  <a:srgbClr val="1B201D"/>
                </a:solidFill>
                <a:latin typeface="Segoe UI" pitchFamily="34" charset="0"/>
                <a:ea typeface="Segoe UI" pitchFamily="34" charset="-122"/>
                <a:cs typeface="Segoe UI" pitchFamily="34" charset="-120"/>
              </a:rPr>
              <a:t>What the battery takes off the peak</a:t>
            </a:r>
            <a:endParaRPr lang="en-US" sz="2300" dirty="0"/>
          </a:p>
        </p:txBody>
      </p:sp>
      <p:pic>
        <p:nvPicPr>
          <p:cNvPr id="6" name="Image 0" descr="preencoded.png">    </p:cNvPr>
          <p:cNvPicPr>
            <a:picLocks noChangeAspect="1"/>
          </p:cNvPicPr>
          <p:nvPr/>
        </p:nvPicPr>
        <p:blipFill>
          <a:blip r:embed="rId1"/>
          <a:stretch>
            <a:fillRect/>
          </a:stretch>
        </p:blipFill>
        <p:spPr>
          <a:xfrm>
            <a:off x="10561320" y="245059"/>
            <a:ext cx="1170432" cy="351130"/>
          </a:xfrm>
          <a:prstGeom prst="rect">
            <a:avLst/>
          </a:prstGeom>
        </p:spPr>
      </p:pic>
      <p:sp>
        <p:nvSpPr>
          <p:cNvPr id="7" name="Text 4"/>
          <p:cNvSpPr/>
          <p:nvPr/>
        </p:nvSpPr>
        <p:spPr>
          <a:xfrm>
            <a:off x="457200" y="6473952"/>
            <a:ext cx="9601200" cy="274320"/>
          </a:xfrm>
          <a:prstGeom prst="rect">
            <a:avLst/>
          </a:prstGeom>
          <a:noFill/>
          <a:ln/>
        </p:spPr>
        <p:txBody>
          <a:bodyPr wrap="square" rtlCol="0" anchor="ctr"/>
          <a:lstStyle/>
          <a:p>
            <a:pPr indent="0" marL="0">
              <a:buNone/>
            </a:pPr>
            <a:r>
              <a:rPr lang="en-US" sz="850" dirty="0">
                <a:solidFill>
                  <a:srgbClr val="849A8F"/>
                </a:solidFill>
                <a:latin typeface="Segoe UI" pitchFamily="34" charset="0"/>
                <a:ea typeface="Segoe UI" pitchFamily="34" charset="-122"/>
                <a:cs typeface="Segoe UI" pitchFamily="34" charset="-120"/>
              </a:rPr>
              <a:t>NextNRG   ·   1901 Convention Ctr Dr, Miami Beach, FL   ·   8/27/2026</a:t>
            </a:r>
            <a:endParaRPr lang="en-US" sz="850" dirty="0"/>
          </a:p>
        </p:txBody>
      </p:sp>
      <p:sp>
        <p:nvSpPr>
          <p:cNvPr id="8" name="Text 5"/>
          <p:cNvSpPr/>
          <p:nvPr/>
        </p:nvSpPr>
        <p:spPr>
          <a:xfrm>
            <a:off x="11338560" y="6473952"/>
            <a:ext cx="457200" cy="274320"/>
          </a:xfrm>
          <a:prstGeom prst="rect">
            <a:avLst/>
          </a:prstGeom>
          <a:noFill/>
          <a:ln/>
        </p:spPr>
        <p:txBody>
          <a:bodyPr wrap="square" rtlCol="0" anchor="ctr"/>
          <a:lstStyle/>
          <a:p>
            <a:pPr algn="r" indent="0" marL="0">
              <a:buNone/>
            </a:pPr>
            <a:r>
              <a:rPr lang="en-US" sz="850" dirty="0">
                <a:solidFill>
                  <a:srgbClr val="849A8F"/>
                </a:solidFill>
                <a:latin typeface="Segoe UI" pitchFamily="34" charset="0"/>
                <a:ea typeface="Segoe UI" pitchFamily="34" charset="-122"/>
                <a:cs typeface="Segoe UI" pitchFamily="34" charset="-120"/>
              </a:rPr>
              <a:t>7</a:t>
            </a:r>
            <a:endParaRPr lang="en-US" sz="850" dirty="0"/>
          </a:p>
        </p:txBody>
      </p:sp>
      <p:pic>
        <p:nvPicPr>
          <p:cNvPr id="9" name="Image 1" descr="preencoded.png">    </p:cNvPr>
          <p:cNvPicPr>
            <a:picLocks noChangeAspect="1"/>
          </p:cNvPicPr>
          <p:nvPr/>
        </p:nvPicPr>
        <p:blipFill>
          <a:blip r:embed="rId2"/>
          <a:stretch>
            <a:fillRect/>
          </a:stretch>
        </p:blipFill>
        <p:spPr>
          <a:xfrm>
            <a:off x="457200" y="1143000"/>
            <a:ext cx="11274552" cy="3931920"/>
          </a:xfrm>
          <a:prstGeom prst="rect">
            <a:avLst/>
          </a:prstGeom>
        </p:spPr>
      </p:pic>
      <p:sp>
        <p:nvSpPr>
          <p:cNvPr id="10" name="Shape 6"/>
          <p:cNvSpPr/>
          <p:nvPr/>
        </p:nvSpPr>
        <p:spPr>
          <a:xfrm>
            <a:off x="457200" y="5230368"/>
            <a:ext cx="2761488" cy="1207008"/>
          </a:xfrm>
          <a:prstGeom prst="roundRect">
            <a:avLst>
              <a:gd name="adj" fmla="val 4545"/>
            </a:avLst>
          </a:prstGeom>
          <a:solidFill>
            <a:srgbClr val="F7F9F8"/>
          </a:solidFill>
          <a:ln w="12700">
            <a:solidFill>
              <a:srgbClr val="DFE8E3"/>
            </a:solidFill>
            <a:prstDash val="solid"/>
          </a:ln>
        </p:spPr>
      </p:sp>
      <p:sp>
        <p:nvSpPr>
          <p:cNvPr id="11" name="Text 7"/>
          <p:cNvSpPr/>
          <p:nvPr/>
        </p:nvSpPr>
        <p:spPr>
          <a:xfrm>
            <a:off x="621792" y="5340096"/>
            <a:ext cx="2432304" cy="219456"/>
          </a:xfrm>
          <a:prstGeom prst="rect">
            <a:avLst/>
          </a:prstGeom>
          <a:noFill/>
          <a:ln/>
        </p:spPr>
        <p:txBody>
          <a:bodyPr wrap="square" rtlCol="0" anchor="ctr"/>
          <a:lstStyle/>
          <a:p>
            <a:pPr indent="0" marL="0">
              <a:buNone/>
            </a:pPr>
            <a:r>
              <a:rPr lang="en-US" sz="850" b="1" spc="110" kern="0" dirty="0">
                <a:solidFill>
                  <a:srgbClr val="5A7266"/>
                </a:solidFill>
                <a:latin typeface="Segoe UI" pitchFamily="34" charset="0"/>
                <a:ea typeface="Segoe UI" pitchFamily="34" charset="-122"/>
                <a:cs typeface="Segoe UI" pitchFamily="34" charset="-120"/>
              </a:rPr>
              <a:t>PEAK BEFORE</a:t>
            </a:r>
            <a:endParaRPr lang="en-US" sz="850" dirty="0"/>
          </a:p>
        </p:txBody>
      </p:sp>
      <p:sp>
        <p:nvSpPr>
          <p:cNvPr id="12" name="Text 8"/>
          <p:cNvSpPr/>
          <p:nvPr/>
        </p:nvSpPr>
        <p:spPr>
          <a:xfrm>
            <a:off x="621792" y="5559552"/>
            <a:ext cx="2432304" cy="457200"/>
          </a:xfrm>
          <a:prstGeom prst="rect">
            <a:avLst/>
          </a:prstGeom>
          <a:noFill/>
          <a:ln/>
        </p:spPr>
        <p:txBody>
          <a:bodyPr wrap="square" rtlCol="0" anchor="ctr"/>
          <a:lstStyle/>
          <a:p>
            <a:pPr indent="0" marL="0">
              <a:buNone/>
            </a:pPr>
            <a:r>
              <a:rPr lang="en-US" sz="2100" b="1" dirty="0">
                <a:solidFill>
                  <a:srgbClr val="EA6406"/>
                </a:solidFill>
                <a:latin typeface="Segoe UI" pitchFamily="34" charset="0"/>
                <a:ea typeface="Segoe UI" pitchFamily="34" charset="-122"/>
                <a:cs typeface="Segoe UI" pitchFamily="34" charset="-120"/>
              </a:rPr>
              <a:t>1.80 MW</a:t>
            </a:r>
            <a:endParaRPr lang="en-US" sz="2100" dirty="0"/>
          </a:p>
        </p:txBody>
      </p:sp>
      <p:sp>
        <p:nvSpPr>
          <p:cNvPr id="13" name="Text 9"/>
          <p:cNvSpPr/>
          <p:nvPr/>
        </p:nvSpPr>
        <p:spPr>
          <a:xfrm>
            <a:off x="621792" y="6016752"/>
            <a:ext cx="2432304" cy="347472"/>
          </a:xfrm>
          <a:prstGeom prst="rect">
            <a:avLst/>
          </a:prstGeom>
          <a:noFill/>
          <a:ln/>
        </p:spPr>
        <p:txBody>
          <a:bodyPr wrap="square" rtlCol="0" anchor="t"/>
          <a:lstStyle/>
          <a:p>
            <a:pPr indent="0" marL="0">
              <a:buNone/>
            </a:pPr>
            <a:r>
              <a:rPr lang="en-US" sz="850" dirty="0">
                <a:solidFill>
                  <a:srgbClr val="849A8F"/>
                </a:solidFill>
                <a:latin typeface="Segoe UI" pitchFamily="34" charset="0"/>
                <a:ea typeface="Segoe UI" pitchFamily="34" charset="-122"/>
                <a:cs typeface="Segoe UI" pitchFamily="34" charset="-120"/>
              </a:rPr>
              <a:t>Jul billing demand</a:t>
            </a:r>
            <a:endParaRPr lang="en-US" sz="850" dirty="0"/>
          </a:p>
        </p:txBody>
      </p:sp>
      <p:sp>
        <p:nvSpPr>
          <p:cNvPr id="14" name="Shape 10"/>
          <p:cNvSpPr/>
          <p:nvPr/>
        </p:nvSpPr>
        <p:spPr>
          <a:xfrm>
            <a:off x="3401568" y="5230368"/>
            <a:ext cx="2761488" cy="1207008"/>
          </a:xfrm>
          <a:prstGeom prst="roundRect">
            <a:avLst>
              <a:gd name="adj" fmla="val 4545"/>
            </a:avLst>
          </a:prstGeom>
          <a:solidFill>
            <a:srgbClr val="F7F9F8"/>
          </a:solidFill>
          <a:ln w="12700">
            <a:solidFill>
              <a:srgbClr val="DFE8E3"/>
            </a:solidFill>
            <a:prstDash val="solid"/>
          </a:ln>
        </p:spPr>
      </p:sp>
      <p:sp>
        <p:nvSpPr>
          <p:cNvPr id="15" name="Text 11"/>
          <p:cNvSpPr/>
          <p:nvPr/>
        </p:nvSpPr>
        <p:spPr>
          <a:xfrm>
            <a:off x="3566160" y="5340096"/>
            <a:ext cx="2432304" cy="219456"/>
          </a:xfrm>
          <a:prstGeom prst="rect">
            <a:avLst/>
          </a:prstGeom>
          <a:noFill/>
          <a:ln/>
        </p:spPr>
        <p:txBody>
          <a:bodyPr wrap="square" rtlCol="0" anchor="ctr"/>
          <a:lstStyle/>
          <a:p>
            <a:pPr indent="0" marL="0">
              <a:buNone/>
            </a:pPr>
            <a:r>
              <a:rPr lang="en-US" sz="850" b="1" spc="110" kern="0" dirty="0">
                <a:solidFill>
                  <a:srgbClr val="5A7266"/>
                </a:solidFill>
                <a:latin typeface="Segoe UI" pitchFamily="34" charset="0"/>
                <a:ea typeface="Segoe UI" pitchFamily="34" charset="-122"/>
                <a:cs typeface="Segoe UI" pitchFamily="34" charset="-120"/>
              </a:rPr>
              <a:t>AFTER SOLAR</a:t>
            </a:r>
            <a:endParaRPr lang="en-US" sz="850" dirty="0"/>
          </a:p>
        </p:txBody>
      </p:sp>
      <p:sp>
        <p:nvSpPr>
          <p:cNvPr id="16" name="Text 12"/>
          <p:cNvSpPr/>
          <p:nvPr/>
        </p:nvSpPr>
        <p:spPr>
          <a:xfrm>
            <a:off x="3566160" y="5559552"/>
            <a:ext cx="2432304" cy="457200"/>
          </a:xfrm>
          <a:prstGeom prst="rect">
            <a:avLst/>
          </a:prstGeom>
          <a:noFill/>
          <a:ln/>
        </p:spPr>
        <p:txBody>
          <a:bodyPr wrap="square" rtlCol="0" anchor="ctr"/>
          <a:lstStyle/>
          <a:p>
            <a:pPr indent="0" marL="0">
              <a:buNone/>
            </a:pPr>
            <a:r>
              <a:rPr lang="en-US" sz="2100" b="1" dirty="0">
                <a:solidFill>
                  <a:srgbClr val="B68403"/>
                </a:solidFill>
                <a:latin typeface="Segoe UI" pitchFamily="34" charset="0"/>
                <a:ea typeface="Segoe UI" pitchFamily="34" charset="-122"/>
                <a:cs typeface="Segoe UI" pitchFamily="34" charset="-120"/>
              </a:rPr>
              <a:t>1.51 MW</a:t>
            </a:r>
            <a:endParaRPr lang="en-US" sz="2100" dirty="0"/>
          </a:p>
        </p:txBody>
      </p:sp>
      <p:sp>
        <p:nvSpPr>
          <p:cNvPr id="17" name="Text 13"/>
          <p:cNvSpPr/>
          <p:nvPr/>
        </p:nvSpPr>
        <p:spPr>
          <a:xfrm>
            <a:off x="3566160" y="6016752"/>
            <a:ext cx="2432304" cy="347472"/>
          </a:xfrm>
          <a:prstGeom prst="rect">
            <a:avLst/>
          </a:prstGeom>
          <a:noFill/>
          <a:ln/>
        </p:spPr>
        <p:txBody>
          <a:bodyPr wrap="square" rtlCol="0" anchor="t"/>
          <a:lstStyle/>
          <a:p>
            <a:pPr indent="0" marL="0">
              <a:buNone/>
            </a:pPr>
            <a:r>
              <a:rPr lang="en-US" sz="850" dirty="0">
                <a:solidFill>
                  <a:srgbClr val="849A8F"/>
                </a:solidFill>
                <a:latin typeface="Segoe UI" pitchFamily="34" charset="0"/>
                <a:ea typeface="Segoe UI" pitchFamily="34" charset="-122"/>
                <a:cs typeface="Segoe UI" pitchFamily="34" charset="-120"/>
              </a:rPr>
              <a:t>−288 kW from the array</a:t>
            </a:r>
            <a:endParaRPr lang="en-US" sz="850" dirty="0"/>
          </a:p>
        </p:txBody>
      </p:sp>
      <p:sp>
        <p:nvSpPr>
          <p:cNvPr id="18" name="Shape 14"/>
          <p:cNvSpPr/>
          <p:nvPr/>
        </p:nvSpPr>
        <p:spPr>
          <a:xfrm>
            <a:off x="6345936" y="5230368"/>
            <a:ext cx="2761488" cy="1207008"/>
          </a:xfrm>
          <a:prstGeom prst="roundRect">
            <a:avLst>
              <a:gd name="adj" fmla="val 4545"/>
            </a:avLst>
          </a:prstGeom>
          <a:solidFill>
            <a:srgbClr val="F7F9F8"/>
          </a:solidFill>
          <a:ln w="12700">
            <a:solidFill>
              <a:srgbClr val="DFE8E3"/>
            </a:solidFill>
            <a:prstDash val="solid"/>
          </a:ln>
        </p:spPr>
      </p:sp>
      <p:sp>
        <p:nvSpPr>
          <p:cNvPr id="19" name="Text 15"/>
          <p:cNvSpPr/>
          <p:nvPr/>
        </p:nvSpPr>
        <p:spPr>
          <a:xfrm>
            <a:off x="6510528" y="5340096"/>
            <a:ext cx="2432304" cy="219456"/>
          </a:xfrm>
          <a:prstGeom prst="rect">
            <a:avLst/>
          </a:prstGeom>
          <a:noFill/>
          <a:ln/>
        </p:spPr>
        <p:txBody>
          <a:bodyPr wrap="square" rtlCol="0" anchor="ctr"/>
          <a:lstStyle/>
          <a:p>
            <a:pPr indent="0" marL="0">
              <a:buNone/>
            </a:pPr>
            <a:r>
              <a:rPr lang="en-US" sz="850" b="1" spc="110" kern="0" dirty="0">
                <a:solidFill>
                  <a:srgbClr val="5A7266"/>
                </a:solidFill>
                <a:latin typeface="Segoe UI" pitchFamily="34" charset="0"/>
                <a:ea typeface="Segoe UI" pitchFamily="34" charset="-122"/>
                <a:cs typeface="Segoe UI" pitchFamily="34" charset="-120"/>
              </a:rPr>
              <a:t>AFTER BATTERY</a:t>
            </a:r>
            <a:endParaRPr lang="en-US" sz="850" dirty="0"/>
          </a:p>
        </p:txBody>
      </p:sp>
      <p:sp>
        <p:nvSpPr>
          <p:cNvPr id="20" name="Text 16"/>
          <p:cNvSpPr/>
          <p:nvPr/>
        </p:nvSpPr>
        <p:spPr>
          <a:xfrm>
            <a:off x="6510528" y="5559552"/>
            <a:ext cx="2432304" cy="457200"/>
          </a:xfrm>
          <a:prstGeom prst="rect">
            <a:avLst/>
          </a:prstGeom>
          <a:noFill/>
          <a:ln/>
        </p:spPr>
        <p:txBody>
          <a:bodyPr wrap="square" rtlCol="0" anchor="ctr"/>
          <a:lstStyle/>
          <a:p>
            <a:pPr indent="0" marL="0">
              <a:buNone/>
            </a:pPr>
            <a:r>
              <a:rPr lang="en-US" sz="2100" b="1" dirty="0">
                <a:solidFill>
                  <a:srgbClr val="1EA44F"/>
                </a:solidFill>
                <a:latin typeface="Segoe UI" pitchFamily="34" charset="0"/>
                <a:ea typeface="Segoe UI" pitchFamily="34" charset="-122"/>
                <a:cs typeface="Segoe UI" pitchFamily="34" charset="-120"/>
              </a:rPr>
              <a:t>1.12 MW</a:t>
            </a:r>
            <a:endParaRPr lang="en-US" sz="2100" dirty="0"/>
          </a:p>
        </p:txBody>
      </p:sp>
      <p:sp>
        <p:nvSpPr>
          <p:cNvPr id="21" name="Text 17"/>
          <p:cNvSpPr/>
          <p:nvPr/>
        </p:nvSpPr>
        <p:spPr>
          <a:xfrm>
            <a:off x="6510528" y="6016752"/>
            <a:ext cx="2432304" cy="347472"/>
          </a:xfrm>
          <a:prstGeom prst="rect">
            <a:avLst/>
          </a:prstGeom>
          <a:noFill/>
          <a:ln/>
        </p:spPr>
        <p:txBody>
          <a:bodyPr wrap="square" rtlCol="0" anchor="t"/>
          <a:lstStyle/>
          <a:p>
            <a:pPr indent="0" marL="0">
              <a:buNone/>
            </a:pPr>
            <a:r>
              <a:rPr lang="en-US" sz="850" dirty="0">
                <a:solidFill>
                  <a:srgbClr val="849A8F"/>
                </a:solidFill>
                <a:latin typeface="Segoe UI" pitchFamily="34" charset="0"/>
                <a:ea typeface="Segoe UI" pitchFamily="34" charset="-122"/>
                <a:cs typeface="Segoe UI" pitchFamily="34" charset="-120"/>
              </a:rPr>
              <a:t>−394 kW more from storage</a:t>
            </a:r>
            <a:endParaRPr lang="en-US" sz="850" dirty="0"/>
          </a:p>
        </p:txBody>
      </p:sp>
      <p:sp>
        <p:nvSpPr>
          <p:cNvPr id="22" name="Shape 18"/>
          <p:cNvSpPr/>
          <p:nvPr/>
        </p:nvSpPr>
        <p:spPr>
          <a:xfrm>
            <a:off x="9290304" y="5230368"/>
            <a:ext cx="2450592" cy="1207008"/>
          </a:xfrm>
          <a:prstGeom prst="roundRect">
            <a:avLst>
              <a:gd name="adj" fmla="val 4545"/>
            </a:avLst>
          </a:prstGeom>
          <a:solidFill>
            <a:srgbClr val="F7F9F8"/>
          </a:solidFill>
          <a:ln w="12700">
            <a:solidFill>
              <a:srgbClr val="DFE8E3"/>
            </a:solidFill>
            <a:prstDash val="solid"/>
          </a:ln>
        </p:spPr>
      </p:sp>
      <p:sp>
        <p:nvSpPr>
          <p:cNvPr id="23" name="Text 19"/>
          <p:cNvSpPr/>
          <p:nvPr/>
        </p:nvSpPr>
        <p:spPr>
          <a:xfrm>
            <a:off x="9454896" y="5340096"/>
            <a:ext cx="2121408" cy="219456"/>
          </a:xfrm>
          <a:prstGeom prst="rect">
            <a:avLst/>
          </a:prstGeom>
          <a:noFill/>
          <a:ln/>
        </p:spPr>
        <p:txBody>
          <a:bodyPr wrap="square" rtlCol="0" anchor="ctr"/>
          <a:lstStyle/>
          <a:p>
            <a:pPr indent="0" marL="0">
              <a:buNone/>
            </a:pPr>
            <a:r>
              <a:rPr lang="en-US" sz="850" b="1" spc="110" kern="0" dirty="0">
                <a:solidFill>
                  <a:srgbClr val="5A7266"/>
                </a:solidFill>
                <a:latin typeface="Segoe UI" pitchFamily="34" charset="0"/>
                <a:ea typeface="Segoe UI" pitchFamily="34" charset="-122"/>
                <a:cs typeface="Segoe UI" pitchFamily="34" charset="-120"/>
              </a:rPr>
              <a:t>TOTAL CUT</a:t>
            </a:r>
            <a:endParaRPr lang="en-US" sz="850" dirty="0"/>
          </a:p>
        </p:txBody>
      </p:sp>
      <p:sp>
        <p:nvSpPr>
          <p:cNvPr id="24" name="Text 20"/>
          <p:cNvSpPr/>
          <p:nvPr/>
        </p:nvSpPr>
        <p:spPr>
          <a:xfrm>
            <a:off x="9454896" y="5559552"/>
            <a:ext cx="2121408" cy="457200"/>
          </a:xfrm>
          <a:prstGeom prst="rect">
            <a:avLst/>
          </a:prstGeom>
          <a:noFill/>
          <a:ln/>
        </p:spPr>
        <p:txBody>
          <a:bodyPr wrap="square" rtlCol="0" anchor="ctr"/>
          <a:lstStyle/>
          <a:p>
            <a:pPr indent="0" marL="0">
              <a:buNone/>
            </a:pPr>
            <a:r>
              <a:rPr lang="en-US" sz="2100" b="1" dirty="0">
                <a:solidFill>
                  <a:srgbClr val="9877F9"/>
                </a:solidFill>
                <a:latin typeface="Segoe UI" pitchFamily="34" charset="0"/>
                <a:ea typeface="Segoe UI" pitchFamily="34" charset="-122"/>
                <a:cs typeface="Segoe UI" pitchFamily="34" charset="-120"/>
              </a:rPr>
              <a:t>682 kW</a:t>
            </a:r>
            <a:endParaRPr lang="en-US" sz="2100" dirty="0"/>
          </a:p>
        </p:txBody>
      </p:sp>
      <p:sp>
        <p:nvSpPr>
          <p:cNvPr id="25" name="Text 21"/>
          <p:cNvSpPr/>
          <p:nvPr/>
        </p:nvSpPr>
        <p:spPr>
          <a:xfrm>
            <a:off x="9454896" y="6016752"/>
            <a:ext cx="2121408" cy="347472"/>
          </a:xfrm>
          <a:prstGeom prst="rect">
            <a:avLst/>
          </a:prstGeom>
          <a:noFill/>
          <a:ln/>
        </p:spPr>
        <p:txBody>
          <a:bodyPr wrap="square" rtlCol="0" anchor="t"/>
          <a:lstStyle/>
          <a:p>
            <a:pPr indent="0" marL="0">
              <a:buNone/>
            </a:pPr>
            <a:r>
              <a:rPr lang="en-US" sz="850" dirty="0">
                <a:solidFill>
                  <a:srgbClr val="849A8F"/>
                </a:solidFill>
                <a:latin typeface="Segoe UI" pitchFamily="34" charset="0"/>
                <a:ea typeface="Segoe UI" pitchFamily="34" charset="-122"/>
                <a:cs typeface="Segoe UI" pitchFamily="34" charset="-120"/>
              </a:rPr>
              <a:t>38% of the peak</a:t>
            </a:r>
            <a:endParaRPr lang="en-US" sz="850" dirty="0"/>
          </a:p>
        </p:txBody>
      </p:sp>
      <p:sp>
        <p:nvSpPr>
          <p:cNvPr id="26" name="Text 22"/>
          <p:cNvSpPr/>
          <p:nvPr/>
        </p:nvSpPr>
        <p:spPr>
          <a:xfrm>
            <a:off x="457200" y="4956048"/>
            <a:ext cx="11274552" cy="256032"/>
          </a:xfrm>
          <a:prstGeom prst="rect">
            <a:avLst/>
          </a:prstGeom>
          <a:noFill/>
          <a:ln/>
        </p:spPr>
        <p:txBody>
          <a:bodyPr wrap="square" rtlCol="0" anchor="ctr"/>
          <a:lstStyle/>
          <a:p>
            <a:pPr indent="0" marL="0">
              <a:buNone/>
            </a:pPr>
            <a:r>
              <a:rPr lang="en-US" sz="950" i="1" dirty="0">
                <a:solidFill>
                  <a:srgbClr val="5A7266"/>
                </a:solidFill>
                <a:latin typeface="Segoe UI" pitchFamily="34" charset="0"/>
                <a:ea typeface="Segoe UI" pitchFamily="34" charset="-122"/>
                <a:cs typeface="Segoe UI" pitchFamily="34" charset="-120"/>
              </a:rPr>
              <a:t>The battery is charged only into the headroom beneath the threshold, so charging can never set a new peak.</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41248"/>
          </a:xfrm>
          <a:prstGeom prst="rect">
            <a:avLst/>
          </a:prstGeom>
          <a:solidFill>
            <a:srgbClr val="F7F9F8"/>
          </a:solidFill>
          <a:ln w="12700">
            <a:solidFill>
              <a:srgbClr val="F7F9F8"/>
            </a:solidFill>
            <a:prstDash val="solid"/>
          </a:ln>
        </p:spPr>
      </p:sp>
      <p:sp>
        <p:nvSpPr>
          <p:cNvPr id="3" name="Shape 1"/>
          <p:cNvSpPr/>
          <p:nvPr/>
        </p:nvSpPr>
        <p:spPr>
          <a:xfrm>
            <a:off x="0" y="841248"/>
            <a:ext cx="12191695" cy="25603"/>
          </a:xfrm>
          <a:prstGeom prst="rect">
            <a:avLst/>
          </a:prstGeom>
          <a:solidFill>
            <a:srgbClr val="008742"/>
          </a:solidFill>
          <a:ln w="12700">
            <a:solidFill>
              <a:srgbClr val="008742"/>
            </a:solidFill>
            <a:prstDash val="solid"/>
          </a:ln>
        </p:spPr>
      </p:sp>
      <p:sp>
        <p:nvSpPr>
          <p:cNvPr id="4" name="Text 2"/>
          <p:cNvSpPr/>
          <p:nvPr/>
        </p:nvSpPr>
        <p:spPr>
          <a:xfrm>
            <a:off x="457200" y="91440"/>
            <a:ext cx="11338560" cy="237744"/>
          </a:xfrm>
          <a:prstGeom prst="rect">
            <a:avLst/>
          </a:prstGeom>
          <a:noFill/>
          <a:ln/>
        </p:spPr>
        <p:txBody>
          <a:bodyPr wrap="square" rtlCol="0" anchor="ctr"/>
          <a:lstStyle/>
          <a:p>
            <a:pPr indent="0" marL="0">
              <a:buNone/>
            </a:pPr>
            <a:r>
              <a:rPr lang="en-US" sz="1000" b="1" spc="160" kern="0" dirty="0">
                <a:solidFill>
                  <a:srgbClr val="008742"/>
                </a:solidFill>
                <a:latin typeface="Consolas" pitchFamily="34" charset="0"/>
                <a:ea typeface="Consolas" pitchFamily="34" charset="-122"/>
                <a:cs typeface="Consolas" pitchFamily="34" charset="-120"/>
              </a:rPr>
              <a:t>TWELVE BILLING PERIODS</a:t>
            </a:r>
            <a:endParaRPr lang="en-US" sz="1000" dirty="0"/>
          </a:p>
        </p:txBody>
      </p:sp>
      <p:sp>
        <p:nvSpPr>
          <p:cNvPr id="5" name="Text 3"/>
          <p:cNvSpPr/>
          <p:nvPr/>
        </p:nvSpPr>
        <p:spPr>
          <a:xfrm>
            <a:off x="457200" y="310896"/>
            <a:ext cx="9966960" cy="457200"/>
          </a:xfrm>
          <a:prstGeom prst="rect">
            <a:avLst/>
          </a:prstGeom>
          <a:noFill/>
          <a:ln/>
        </p:spPr>
        <p:txBody>
          <a:bodyPr wrap="square" rtlCol="0" anchor="ctr"/>
          <a:lstStyle/>
          <a:p>
            <a:pPr indent="0" marL="0">
              <a:buNone/>
            </a:pPr>
            <a:r>
              <a:rPr lang="en-US" sz="2300" b="1" dirty="0">
                <a:solidFill>
                  <a:srgbClr val="1B201D"/>
                </a:solidFill>
                <a:latin typeface="Segoe UI" pitchFamily="34" charset="0"/>
                <a:ea typeface="Segoe UI" pitchFamily="34" charset="-122"/>
                <a:cs typeface="Segoe UI" pitchFamily="34" charset="-120"/>
              </a:rPr>
              <a:t>Billing demand, month by month</a:t>
            </a:r>
            <a:endParaRPr lang="en-US" sz="2300" dirty="0"/>
          </a:p>
        </p:txBody>
      </p:sp>
      <p:pic>
        <p:nvPicPr>
          <p:cNvPr id="6" name="Image 0" descr="preencoded.png">    </p:cNvPr>
          <p:cNvPicPr>
            <a:picLocks noChangeAspect="1"/>
          </p:cNvPicPr>
          <p:nvPr/>
        </p:nvPicPr>
        <p:blipFill>
          <a:blip r:embed="rId1"/>
          <a:stretch>
            <a:fillRect/>
          </a:stretch>
        </p:blipFill>
        <p:spPr>
          <a:xfrm>
            <a:off x="10561320" y="245059"/>
            <a:ext cx="1170432" cy="351130"/>
          </a:xfrm>
          <a:prstGeom prst="rect">
            <a:avLst/>
          </a:prstGeom>
        </p:spPr>
      </p:pic>
      <p:sp>
        <p:nvSpPr>
          <p:cNvPr id="7" name="Text 4"/>
          <p:cNvSpPr/>
          <p:nvPr/>
        </p:nvSpPr>
        <p:spPr>
          <a:xfrm>
            <a:off x="457200" y="6473952"/>
            <a:ext cx="9601200" cy="274320"/>
          </a:xfrm>
          <a:prstGeom prst="rect">
            <a:avLst/>
          </a:prstGeom>
          <a:noFill/>
          <a:ln/>
        </p:spPr>
        <p:txBody>
          <a:bodyPr wrap="square" rtlCol="0" anchor="ctr"/>
          <a:lstStyle/>
          <a:p>
            <a:pPr indent="0" marL="0">
              <a:buNone/>
            </a:pPr>
            <a:r>
              <a:rPr lang="en-US" sz="850" dirty="0">
                <a:solidFill>
                  <a:srgbClr val="849A8F"/>
                </a:solidFill>
                <a:latin typeface="Segoe UI" pitchFamily="34" charset="0"/>
                <a:ea typeface="Segoe UI" pitchFamily="34" charset="-122"/>
                <a:cs typeface="Segoe UI" pitchFamily="34" charset="-120"/>
              </a:rPr>
              <a:t>NextNRG   ·   1901 Convention Ctr Dr, Miami Beach, FL   ·   8/27/2026</a:t>
            </a:r>
            <a:endParaRPr lang="en-US" sz="850" dirty="0"/>
          </a:p>
        </p:txBody>
      </p:sp>
      <p:sp>
        <p:nvSpPr>
          <p:cNvPr id="8" name="Text 5"/>
          <p:cNvSpPr/>
          <p:nvPr/>
        </p:nvSpPr>
        <p:spPr>
          <a:xfrm>
            <a:off x="11338560" y="6473952"/>
            <a:ext cx="457200" cy="274320"/>
          </a:xfrm>
          <a:prstGeom prst="rect">
            <a:avLst/>
          </a:prstGeom>
          <a:noFill/>
          <a:ln/>
        </p:spPr>
        <p:txBody>
          <a:bodyPr wrap="square" rtlCol="0" anchor="ctr"/>
          <a:lstStyle/>
          <a:p>
            <a:pPr algn="r" indent="0" marL="0">
              <a:buNone/>
            </a:pPr>
            <a:r>
              <a:rPr lang="en-US" sz="850" dirty="0">
                <a:solidFill>
                  <a:srgbClr val="849A8F"/>
                </a:solidFill>
                <a:latin typeface="Segoe UI" pitchFamily="34" charset="0"/>
                <a:ea typeface="Segoe UI" pitchFamily="34" charset="-122"/>
                <a:cs typeface="Segoe UI" pitchFamily="34" charset="-120"/>
              </a:rPr>
              <a:t>8</a:t>
            </a:r>
            <a:endParaRPr lang="en-US" sz="850" dirty="0"/>
          </a:p>
        </p:txBody>
      </p:sp>
      <p:pic>
        <p:nvPicPr>
          <p:cNvPr id="9" name="Image 1" descr="preencoded.png">    </p:cNvPr>
          <p:cNvPicPr>
            <a:picLocks noChangeAspect="1"/>
          </p:cNvPicPr>
          <p:nvPr/>
        </p:nvPicPr>
        <p:blipFill>
          <a:blip r:embed="rId2"/>
          <a:stretch>
            <a:fillRect/>
          </a:stretch>
        </p:blipFill>
        <p:spPr>
          <a:xfrm>
            <a:off x="457200" y="1143000"/>
            <a:ext cx="11274552" cy="4206240"/>
          </a:xfrm>
          <a:prstGeom prst="rect">
            <a:avLst/>
          </a:prstGeom>
        </p:spPr>
      </p:pic>
      <p:sp>
        <p:nvSpPr>
          <p:cNvPr id="10" name="Text 6"/>
          <p:cNvSpPr/>
          <p:nvPr/>
        </p:nvSpPr>
        <p:spPr>
          <a:xfrm>
            <a:off x="457200" y="5532120"/>
            <a:ext cx="11338560" cy="384048"/>
          </a:xfrm>
          <a:prstGeom prst="rect">
            <a:avLst/>
          </a:prstGeom>
          <a:noFill/>
          <a:ln/>
        </p:spPr>
        <p:txBody>
          <a:bodyPr wrap="square" rtlCol="0" anchor="ctr"/>
          <a:lstStyle/>
          <a:p>
            <a:pPr indent="0" marL="0">
              <a:buNone/>
            </a:pPr>
            <a:r>
              <a:rPr lang="en-US" sz="950" i="1" dirty="0">
                <a:solidFill>
                  <a:srgbClr val="5A7266"/>
                </a:solidFill>
                <a:latin typeface="Segoe UI" pitchFamily="34" charset="0"/>
                <a:ea typeface="Segoe UI" pitchFamily="34" charset="-122"/>
                <a:cs typeface="Segoe UI" pitchFamily="34" charset="-120"/>
              </a:rPr>
              <a:t>Demand is billed on the single highest interval in each month, so each bar is one interval, not an average. Over twelve months the array removes $21,473 of demand charges and the battery a further $82,418.</a:t>
            </a:r>
            <a:endParaRPr lang="en-US" sz="950" dirty="0"/>
          </a:p>
        </p:txBody>
      </p:sp>
      <p:sp>
        <p:nvSpPr>
          <p:cNvPr id="11" name="Text 7"/>
          <p:cNvSpPr/>
          <p:nvPr/>
        </p:nvSpPr>
        <p:spPr>
          <a:xfrm>
            <a:off x="457200" y="5897880"/>
            <a:ext cx="11274552" cy="548640"/>
          </a:xfrm>
          <a:prstGeom prst="rect">
            <a:avLst/>
          </a:prstGeom>
          <a:noFill/>
          <a:ln/>
        </p:spPr>
        <p:txBody>
          <a:bodyPr wrap="square" rtlCol="0" anchor="t"/>
          <a:lstStyle/>
          <a:p>
            <a:pPr indent="0" marL="0">
              <a:buNone/>
            </a:pPr>
            <a:r>
              <a:rPr lang="en-US" sz="1000" dirty="0">
                <a:solidFill>
                  <a:srgbClr val="EA6406"/>
                </a:solidFill>
                <a:latin typeface="Segoe UI" pitchFamily="34" charset="0"/>
                <a:ea typeface="Segoe UI" pitchFamily="34" charset="-122"/>
                <a:cs typeface="Segoe UI" pitchFamily="34" charset="-120"/>
              </a:rPr>
              <a:t>⚠  Load shape is synthesised, not measured. Shape synthesised from a 1,800 kW peak and a 52% load factor. A synthesised shape cannot tell you when your real peak falls, which is the thing demand shaving turns on — import interval data before relying on these figures.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41248"/>
          </a:xfrm>
          <a:prstGeom prst="rect">
            <a:avLst/>
          </a:prstGeom>
          <a:solidFill>
            <a:srgbClr val="F7F9F8"/>
          </a:solidFill>
          <a:ln w="12700">
            <a:solidFill>
              <a:srgbClr val="F7F9F8"/>
            </a:solidFill>
            <a:prstDash val="solid"/>
          </a:ln>
        </p:spPr>
      </p:sp>
      <p:sp>
        <p:nvSpPr>
          <p:cNvPr id="3" name="Shape 1"/>
          <p:cNvSpPr/>
          <p:nvPr/>
        </p:nvSpPr>
        <p:spPr>
          <a:xfrm>
            <a:off x="0" y="841248"/>
            <a:ext cx="12191695" cy="25603"/>
          </a:xfrm>
          <a:prstGeom prst="rect">
            <a:avLst/>
          </a:prstGeom>
          <a:solidFill>
            <a:srgbClr val="008742"/>
          </a:solidFill>
          <a:ln w="12700">
            <a:solidFill>
              <a:srgbClr val="008742"/>
            </a:solidFill>
            <a:prstDash val="solid"/>
          </a:ln>
        </p:spPr>
      </p:sp>
      <p:sp>
        <p:nvSpPr>
          <p:cNvPr id="4" name="Text 2"/>
          <p:cNvSpPr/>
          <p:nvPr/>
        </p:nvSpPr>
        <p:spPr>
          <a:xfrm>
            <a:off x="457200" y="91440"/>
            <a:ext cx="11338560" cy="237744"/>
          </a:xfrm>
          <a:prstGeom prst="rect">
            <a:avLst/>
          </a:prstGeom>
          <a:noFill/>
          <a:ln/>
        </p:spPr>
        <p:txBody>
          <a:bodyPr wrap="square" rtlCol="0" anchor="ctr"/>
          <a:lstStyle/>
          <a:p>
            <a:pPr indent="0" marL="0">
              <a:buNone/>
            </a:pPr>
            <a:r>
              <a:rPr lang="en-US" sz="1000" b="1" spc="160" kern="0" dirty="0">
                <a:solidFill>
                  <a:srgbClr val="008742"/>
                </a:solidFill>
                <a:latin typeface="Consolas" pitchFamily="34" charset="0"/>
                <a:ea typeface="Consolas" pitchFamily="34" charset="-122"/>
                <a:cs typeface="Consolas" pitchFamily="34" charset="-120"/>
              </a:rPr>
              <a:t>ANNUAL VALUE</a:t>
            </a:r>
            <a:endParaRPr lang="en-US" sz="1000" dirty="0"/>
          </a:p>
        </p:txBody>
      </p:sp>
      <p:sp>
        <p:nvSpPr>
          <p:cNvPr id="5" name="Text 3"/>
          <p:cNvSpPr/>
          <p:nvPr/>
        </p:nvSpPr>
        <p:spPr>
          <a:xfrm>
            <a:off x="457200" y="310896"/>
            <a:ext cx="9966960" cy="457200"/>
          </a:xfrm>
          <a:prstGeom prst="rect">
            <a:avLst/>
          </a:prstGeom>
          <a:noFill/>
          <a:ln/>
        </p:spPr>
        <p:txBody>
          <a:bodyPr wrap="square" rtlCol="0" anchor="ctr"/>
          <a:lstStyle/>
          <a:p>
            <a:pPr indent="0" marL="0">
              <a:buNone/>
            </a:pPr>
            <a:r>
              <a:rPr lang="en-US" sz="2300" b="1" dirty="0">
                <a:solidFill>
                  <a:srgbClr val="1B201D"/>
                </a:solidFill>
                <a:latin typeface="Segoe UI" pitchFamily="34" charset="0"/>
                <a:ea typeface="Segoe UI" pitchFamily="34" charset="-122"/>
                <a:cs typeface="Segoe UI" pitchFamily="34" charset="-120"/>
              </a:rPr>
              <a:t>What it is worth in a year</a:t>
            </a:r>
            <a:endParaRPr lang="en-US" sz="2300" dirty="0"/>
          </a:p>
        </p:txBody>
      </p:sp>
      <p:pic>
        <p:nvPicPr>
          <p:cNvPr id="6" name="Image 0" descr="preencoded.png">    </p:cNvPr>
          <p:cNvPicPr>
            <a:picLocks noChangeAspect="1"/>
          </p:cNvPicPr>
          <p:nvPr/>
        </p:nvPicPr>
        <p:blipFill>
          <a:blip r:embed="rId1"/>
          <a:stretch>
            <a:fillRect/>
          </a:stretch>
        </p:blipFill>
        <p:spPr>
          <a:xfrm>
            <a:off x="10561320" y="245059"/>
            <a:ext cx="1170432" cy="351130"/>
          </a:xfrm>
          <a:prstGeom prst="rect">
            <a:avLst/>
          </a:prstGeom>
        </p:spPr>
      </p:pic>
      <p:sp>
        <p:nvSpPr>
          <p:cNvPr id="7" name="Text 4"/>
          <p:cNvSpPr/>
          <p:nvPr/>
        </p:nvSpPr>
        <p:spPr>
          <a:xfrm>
            <a:off x="457200" y="6473952"/>
            <a:ext cx="9601200" cy="274320"/>
          </a:xfrm>
          <a:prstGeom prst="rect">
            <a:avLst/>
          </a:prstGeom>
          <a:noFill/>
          <a:ln/>
        </p:spPr>
        <p:txBody>
          <a:bodyPr wrap="square" rtlCol="0" anchor="ctr"/>
          <a:lstStyle/>
          <a:p>
            <a:pPr indent="0" marL="0">
              <a:buNone/>
            </a:pPr>
            <a:r>
              <a:rPr lang="en-US" sz="850" dirty="0">
                <a:solidFill>
                  <a:srgbClr val="849A8F"/>
                </a:solidFill>
                <a:latin typeface="Segoe UI" pitchFamily="34" charset="0"/>
                <a:ea typeface="Segoe UI" pitchFamily="34" charset="-122"/>
                <a:cs typeface="Segoe UI" pitchFamily="34" charset="-120"/>
              </a:rPr>
              <a:t>NextNRG   ·   1901 Convention Ctr Dr, Miami Beach, FL   ·   8/27/2026</a:t>
            </a:r>
            <a:endParaRPr lang="en-US" sz="850" dirty="0"/>
          </a:p>
        </p:txBody>
      </p:sp>
      <p:sp>
        <p:nvSpPr>
          <p:cNvPr id="8" name="Text 5"/>
          <p:cNvSpPr/>
          <p:nvPr/>
        </p:nvSpPr>
        <p:spPr>
          <a:xfrm>
            <a:off x="11338560" y="6473952"/>
            <a:ext cx="457200" cy="274320"/>
          </a:xfrm>
          <a:prstGeom prst="rect">
            <a:avLst/>
          </a:prstGeom>
          <a:noFill/>
          <a:ln/>
        </p:spPr>
        <p:txBody>
          <a:bodyPr wrap="square" rtlCol="0" anchor="ctr"/>
          <a:lstStyle/>
          <a:p>
            <a:pPr algn="r" indent="0" marL="0">
              <a:buNone/>
            </a:pPr>
            <a:r>
              <a:rPr lang="en-US" sz="850" dirty="0">
                <a:solidFill>
                  <a:srgbClr val="849A8F"/>
                </a:solidFill>
                <a:latin typeface="Segoe UI" pitchFamily="34" charset="0"/>
                <a:ea typeface="Segoe UI" pitchFamily="34" charset="-122"/>
                <a:cs typeface="Segoe UI" pitchFamily="34" charset="-120"/>
              </a:rPr>
              <a:t>9</a:t>
            </a:r>
            <a:endParaRPr lang="en-US" sz="850" dirty="0"/>
          </a:p>
        </p:txBody>
      </p:sp>
      <p:sp>
        <p:nvSpPr>
          <p:cNvPr id="9" name="Shape 6"/>
          <p:cNvSpPr/>
          <p:nvPr/>
        </p:nvSpPr>
        <p:spPr>
          <a:xfrm>
            <a:off x="457200" y="1143000"/>
            <a:ext cx="2761488" cy="1207008"/>
          </a:xfrm>
          <a:prstGeom prst="roundRect">
            <a:avLst>
              <a:gd name="adj" fmla="val 4545"/>
            </a:avLst>
          </a:prstGeom>
          <a:solidFill>
            <a:srgbClr val="F7F9F8"/>
          </a:solidFill>
          <a:ln w="12700">
            <a:solidFill>
              <a:srgbClr val="DFE8E3"/>
            </a:solidFill>
            <a:prstDash val="solid"/>
          </a:ln>
        </p:spPr>
      </p:sp>
      <p:sp>
        <p:nvSpPr>
          <p:cNvPr id="10" name="Text 7"/>
          <p:cNvSpPr/>
          <p:nvPr/>
        </p:nvSpPr>
        <p:spPr>
          <a:xfrm>
            <a:off x="621792" y="1252728"/>
            <a:ext cx="2432304" cy="219456"/>
          </a:xfrm>
          <a:prstGeom prst="rect">
            <a:avLst/>
          </a:prstGeom>
          <a:noFill/>
          <a:ln/>
        </p:spPr>
        <p:txBody>
          <a:bodyPr wrap="square" rtlCol="0" anchor="ctr"/>
          <a:lstStyle/>
          <a:p>
            <a:pPr indent="0" marL="0">
              <a:buNone/>
            </a:pPr>
            <a:r>
              <a:rPr lang="en-US" sz="850" b="1" spc="110" kern="0" dirty="0">
                <a:solidFill>
                  <a:srgbClr val="5A7266"/>
                </a:solidFill>
                <a:latin typeface="Segoe UI" pitchFamily="34" charset="0"/>
                <a:ea typeface="Segoe UI" pitchFamily="34" charset="-122"/>
                <a:cs typeface="Segoe UI" pitchFamily="34" charset="-120"/>
              </a:rPr>
              <a:t>DEMAND CHARGES TODAY</a:t>
            </a:r>
            <a:endParaRPr lang="en-US" sz="850" dirty="0"/>
          </a:p>
        </p:txBody>
      </p:sp>
      <p:sp>
        <p:nvSpPr>
          <p:cNvPr id="11" name="Text 8"/>
          <p:cNvSpPr/>
          <p:nvPr/>
        </p:nvSpPr>
        <p:spPr>
          <a:xfrm>
            <a:off x="621792" y="1472184"/>
            <a:ext cx="2432304" cy="457200"/>
          </a:xfrm>
          <a:prstGeom prst="rect">
            <a:avLst/>
          </a:prstGeom>
          <a:noFill/>
          <a:ln/>
        </p:spPr>
        <p:txBody>
          <a:bodyPr wrap="square" rtlCol="0" anchor="ctr"/>
          <a:lstStyle/>
          <a:p>
            <a:pPr indent="0" marL="0">
              <a:buNone/>
            </a:pPr>
            <a:r>
              <a:rPr lang="en-US" sz="2100" b="1" dirty="0">
                <a:solidFill>
                  <a:srgbClr val="EA6406"/>
                </a:solidFill>
                <a:latin typeface="Segoe UI" pitchFamily="34" charset="0"/>
                <a:ea typeface="Segoe UI" pitchFamily="34" charset="-122"/>
                <a:cs typeface="Segoe UI" pitchFamily="34" charset="-120"/>
              </a:rPr>
              <a:t>$309,644</a:t>
            </a:r>
            <a:endParaRPr lang="en-US" sz="2100" dirty="0"/>
          </a:p>
        </p:txBody>
      </p:sp>
      <p:sp>
        <p:nvSpPr>
          <p:cNvPr id="12" name="Text 9"/>
          <p:cNvSpPr/>
          <p:nvPr/>
        </p:nvSpPr>
        <p:spPr>
          <a:xfrm>
            <a:off x="621792" y="1929384"/>
            <a:ext cx="2432304" cy="347472"/>
          </a:xfrm>
          <a:prstGeom prst="rect">
            <a:avLst/>
          </a:prstGeom>
          <a:noFill/>
          <a:ln/>
        </p:spPr>
        <p:txBody>
          <a:bodyPr wrap="square" rtlCol="0" anchor="t"/>
          <a:lstStyle/>
          <a:p>
            <a:pPr indent="0" marL="0">
              <a:buNone/>
            </a:pPr>
            <a:r>
              <a:rPr lang="en-US" sz="850" dirty="0">
                <a:solidFill>
                  <a:srgbClr val="849A8F"/>
                </a:solidFill>
                <a:latin typeface="Segoe UI" pitchFamily="34" charset="0"/>
                <a:ea typeface="Segoe UI" pitchFamily="34" charset="-122"/>
                <a:cs typeface="Segoe UI" pitchFamily="34" charset="-120"/>
              </a:rPr>
              <a:t>at $16.50/kW-month</a:t>
            </a:r>
            <a:endParaRPr lang="en-US" sz="850" dirty="0"/>
          </a:p>
        </p:txBody>
      </p:sp>
      <p:sp>
        <p:nvSpPr>
          <p:cNvPr id="13" name="Shape 10"/>
          <p:cNvSpPr/>
          <p:nvPr/>
        </p:nvSpPr>
        <p:spPr>
          <a:xfrm>
            <a:off x="3401568" y="1143000"/>
            <a:ext cx="2761488" cy="1207008"/>
          </a:xfrm>
          <a:prstGeom prst="roundRect">
            <a:avLst>
              <a:gd name="adj" fmla="val 4545"/>
            </a:avLst>
          </a:prstGeom>
          <a:solidFill>
            <a:srgbClr val="F7F9F8"/>
          </a:solidFill>
          <a:ln w="12700">
            <a:solidFill>
              <a:srgbClr val="DFE8E3"/>
            </a:solidFill>
            <a:prstDash val="solid"/>
          </a:ln>
        </p:spPr>
      </p:sp>
      <p:sp>
        <p:nvSpPr>
          <p:cNvPr id="14" name="Text 11"/>
          <p:cNvSpPr/>
          <p:nvPr/>
        </p:nvSpPr>
        <p:spPr>
          <a:xfrm>
            <a:off x="3566160" y="1252728"/>
            <a:ext cx="2432304" cy="219456"/>
          </a:xfrm>
          <a:prstGeom prst="rect">
            <a:avLst/>
          </a:prstGeom>
          <a:noFill/>
          <a:ln/>
        </p:spPr>
        <p:txBody>
          <a:bodyPr wrap="square" rtlCol="0" anchor="ctr"/>
          <a:lstStyle/>
          <a:p>
            <a:pPr indent="0" marL="0">
              <a:buNone/>
            </a:pPr>
            <a:r>
              <a:rPr lang="en-US" sz="850" b="1" spc="110" kern="0" dirty="0">
                <a:solidFill>
                  <a:srgbClr val="5A7266"/>
                </a:solidFill>
                <a:latin typeface="Segoe UI" pitchFamily="34" charset="0"/>
                <a:ea typeface="Segoe UI" pitchFamily="34" charset="-122"/>
                <a:cs typeface="Segoe UI" pitchFamily="34" charset="-120"/>
              </a:rPr>
              <a:t>SAVED BY SOLAR</a:t>
            </a:r>
            <a:endParaRPr lang="en-US" sz="850" dirty="0"/>
          </a:p>
        </p:txBody>
      </p:sp>
      <p:sp>
        <p:nvSpPr>
          <p:cNvPr id="15" name="Text 12"/>
          <p:cNvSpPr/>
          <p:nvPr/>
        </p:nvSpPr>
        <p:spPr>
          <a:xfrm>
            <a:off x="3566160" y="1472184"/>
            <a:ext cx="2432304" cy="457200"/>
          </a:xfrm>
          <a:prstGeom prst="rect">
            <a:avLst/>
          </a:prstGeom>
          <a:noFill/>
          <a:ln/>
        </p:spPr>
        <p:txBody>
          <a:bodyPr wrap="square" rtlCol="0" anchor="ctr"/>
          <a:lstStyle/>
          <a:p>
            <a:pPr indent="0" marL="0">
              <a:buNone/>
            </a:pPr>
            <a:r>
              <a:rPr lang="en-US" sz="2100" b="1" dirty="0">
                <a:solidFill>
                  <a:srgbClr val="B68403"/>
                </a:solidFill>
                <a:latin typeface="Segoe UI" pitchFamily="34" charset="0"/>
                <a:ea typeface="Segoe UI" pitchFamily="34" charset="-122"/>
                <a:cs typeface="Segoe UI" pitchFamily="34" charset="-120"/>
              </a:rPr>
              <a:t>$21,473</a:t>
            </a:r>
            <a:endParaRPr lang="en-US" sz="2100" dirty="0"/>
          </a:p>
        </p:txBody>
      </p:sp>
      <p:sp>
        <p:nvSpPr>
          <p:cNvPr id="16" name="Text 13"/>
          <p:cNvSpPr/>
          <p:nvPr/>
        </p:nvSpPr>
        <p:spPr>
          <a:xfrm>
            <a:off x="3566160" y="1929384"/>
            <a:ext cx="2432304" cy="347472"/>
          </a:xfrm>
          <a:prstGeom prst="rect">
            <a:avLst/>
          </a:prstGeom>
          <a:noFill/>
          <a:ln/>
        </p:spPr>
        <p:txBody>
          <a:bodyPr wrap="square" rtlCol="0" anchor="t"/>
          <a:lstStyle/>
          <a:p>
            <a:pPr indent="0" marL="0">
              <a:buNone/>
            </a:pPr>
            <a:r>
              <a:rPr lang="en-US" sz="850" dirty="0">
                <a:solidFill>
                  <a:srgbClr val="849A8F"/>
                </a:solidFill>
                <a:latin typeface="Segoe UI" pitchFamily="34" charset="0"/>
                <a:ea typeface="Segoe UI" pitchFamily="34" charset="-122"/>
                <a:cs typeface="Segoe UI" pitchFamily="34" charset="-120"/>
              </a:rPr>
              <a:t>demand only — energy is counted separately</a:t>
            </a:r>
            <a:endParaRPr lang="en-US" sz="850" dirty="0"/>
          </a:p>
        </p:txBody>
      </p:sp>
      <p:sp>
        <p:nvSpPr>
          <p:cNvPr id="17" name="Shape 14"/>
          <p:cNvSpPr/>
          <p:nvPr/>
        </p:nvSpPr>
        <p:spPr>
          <a:xfrm>
            <a:off x="6345936" y="1143000"/>
            <a:ext cx="2761488" cy="1207008"/>
          </a:xfrm>
          <a:prstGeom prst="roundRect">
            <a:avLst>
              <a:gd name="adj" fmla="val 4545"/>
            </a:avLst>
          </a:prstGeom>
          <a:solidFill>
            <a:srgbClr val="F7F9F8"/>
          </a:solidFill>
          <a:ln w="12700">
            <a:solidFill>
              <a:srgbClr val="DFE8E3"/>
            </a:solidFill>
            <a:prstDash val="solid"/>
          </a:ln>
        </p:spPr>
      </p:sp>
      <p:sp>
        <p:nvSpPr>
          <p:cNvPr id="18" name="Text 15"/>
          <p:cNvSpPr/>
          <p:nvPr/>
        </p:nvSpPr>
        <p:spPr>
          <a:xfrm>
            <a:off x="6510528" y="1252728"/>
            <a:ext cx="2432304" cy="219456"/>
          </a:xfrm>
          <a:prstGeom prst="rect">
            <a:avLst/>
          </a:prstGeom>
          <a:noFill/>
          <a:ln/>
        </p:spPr>
        <p:txBody>
          <a:bodyPr wrap="square" rtlCol="0" anchor="ctr"/>
          <a:lstStyle/>
          <a:p>
            <a:pPr indent="0" marL="0">
              <a:buNone/>
            </a:pPr>
            <a:r>
              <a:rPr lang="en-US" sz="850" b="1" spc="110" kern="0" dirty="0">
                <a:solidFill>
                  <a:srgbClr val="5A7266"/>
                </a:solidFill>
                <a:latin typeface="Segoe UI" pitchFamily="34" charset="0"/>
                <a:ea typeface="Segoe UI" pitchFamily="34" charset="-122"/>
                <a:cs typeface="Segoe UI" pitchFamily="34" charset="-120"/>
              </a:rPr>
              <a:t>SAVED BY STORAGE</a:t>
            </a:r>
            <a:endParaRPr lang="en-US" sz="850" dirty="0"/>
          </a:p>
        </p:txBody>
      </p:sp>
      <p:sp>
        <p:nvSpPr>
          <p:cNvPr id="19" name="Text 16"/>
          <p:cNvSpPr/>
          <p:nvPr/>
        </p:nvSpPr>
        <p:spPr>
          <a:xfrm>
            <a:off x="6510528" y="1472184"/>
            <a:ext cx="2432304" cy="457200"/>
          </a:xfrm>
          <a:prstGeom prst="rect">
            <a:avLst/>
          </a:prstGeom>
          <a:noFill/>
          <a:ln/>
        </p:spPr>
        <p:txBody>
          <a:bodyPr wrap="square" rtlCol="0" anchor="ctr"/>
          <a:lstStyle/>
          <a:p>
            <a:pPr indent="0" marL="0">
              <a:buNone/>
            </a:pPr>
            <a:r>
              <a:rPr lang="en-US" sz="2100" b="1" dirty="0">
                <a:solidFill>
                  <a:srgbClr val="9877F9"/>
                </a:solidFill>
                <a:latin typeface="Segoe UI" pitchFamily="34" charset="0"/>
                <a:ea typeface="Segoe UI" pitchFamily="34" charset="-122"/>
                <a:cs typeface="Segoe UI" pitchFamily="34" charset="-120"/>
              </a:rPr>
              <a:t>$82,418</a:t>
            </a:r>
            <a:endParaRPr lang="en-US" sz="2100" dirty="0"/>
          </a:p>
        </p:txBody>
      </p:sp>
      <p:sp>
        <p:nvSpPr>
          <p:cNvPr id="20" name="Text 17"/>
          <p:cNvSpPr/>
          <p:nvPr/>
        </p:nvSpPr>
        <p:spPr>
          <a:xfrm>
            <a:off x="6510528" y="1929384"/>
            <a:ext cx="2432304" cy="347472"/>
          </a:xfrm>
          <a:prstGeom prst="rect">
            <a:avLst/>
          </a:prstGeom>
          <a:noFill/>
          <a:ln/>
        </p:spPr>
        <p:txBody>
          <a:bodyPr wrap="square" rtlCol="0" anchor="t"/>
          <a:lstStyle/>
          <a:p>
            <a:pPr indent="0" marL="0">
              <a:buNone/>
            </a:pPr>
            <a:r>
              <a:rPr lang="en-US" sz="850" dirty="0">
                <a:solidFill>
                  <a:srgbClr val="849A8F"/>
                </a:solidFill>
                <a:latin typeface="Segoe UI" pitchFamily="34" charset="0"/>
                <a:ea typeface="Segoe UI" pitchFamily="34" charset="-122"/>
                <a:cs typeface="Segoe UI" pitchFamily="34" charset="-120"/>
              </a:rPr>
              <a:t>58 full cycles a year</a:t>
            </a:r>
            <a:endParaRPr lang="en-US" sz="850" dirty="0"/>
          </a:p>
        </p:txBody>
      </p:sp>
      <p:sp>
        <p:nvSpPr>
          <p:cNvPr id="21" name="Shape 18"/>
          <p:cNvSpPr/>
          <p:nvPr/>
        </p:nvSpPr>
        <p:spPr>
          <a:xfrm>
            <a:off x="9290304" y="1143000"/>
            <a:ext cx="2450592" cy="1207008"/>
          </a:xfrm>
          <a:prstGeom prst="roundRect">
            <a:avLst>
              <a:gd name="adj" fmla="val 4545"/>
            </a:avLst>
          </a:prstGeom>
          <a:solidFill>
            <a:srgbClr val="F7F9F8"/>
          </a:solidFill>
          <a:ln w="12700">
            <a:solidFill>
              <a:srgbClr val="DFE8E3"/>
            </a:solidFill>
            <a:prstDash val="solid"/>
          </a:ln>
        </p:spPr>
      </p:sp>
      <p:sp>
        <p:nvSpPr>
          <p:cNvPr id="22" name="Text 19"/>
          <p:cNvSpPr/>
          <p:nvPr/>
        </p:nvSpPr>
        <p:spPr>
          <a:xfrm>
            <a:off x="9454896" y="1252728"/>
            <a:ext cx="2121408" cy="219456"/>
          </a:xfrm>
          <a:prstGeom prst="rect">
            <a:avLst/>
          </a:prstGeom>
          <a:noFill/>
          <a:ln/>
        </p:spPr>
        <p:txBody>
          <a:bodyPr wrap="square" rtlCol="0" anchor="ctr"/>
          <a:lstStyle/>
          <a:p>
            <a:pPr indent="0" marL="0">
              <a:buNone/>
            </a:pPr>
            <a:r>
              <a:rPr lang="en-US" sz="850" b="1" spc="110" kern="0" dirty="0">
                <a:solidFill>
                  <a:srgbClr val="5A7266"/>
                </a:solidFill>
                <a:latin typeface="Segoe UI" pitchFamily="34" charset="0"/>
                <a:ea typeface="Segoe UI" pitchFamily="34" charset="-122"/>
                <a:cs typeface="Segoe UI" pitchFamily="34" charset="-120"/>
              </a:rPr>
              <a:t>TOTAL ANNUAL SAVING</a:t>
            </a:r>
            <a:endParaRPr lang="en-US" sz="850" dirty="0"/>
          </a:p>
        </p:txBody>
      </p:sp>
      <p:sp>
        <p:nvSpPr>
          <p:cNvPr id="23" name="Text 20"/>
          <p:cNvSpPr/>
          <p:nvPr/>
        </p:nvSpPr>
        <p:spPr>
          <a:xfrm>
            <a:off x="9454896" y="1472184"/>
            <a:ext cx="2121408" cy="457200"/>
          </a:xfrm>
          <a:prstGeom prst="rect">
            <a:avLst/>
          </a:prstGeom>
          <a:noFill/>
          <a:ln/>
        </p:spPr>
        <p:txBody>
          <a:bodyPr wrap="square" rtlCol="0" anchor="ctr"/>
          <a:lstStyle/>
          <a:p>
            <a:pPr indent="0" marL="0">
              <a:buNone/>
            </a:pPr>
            <a:r>
              <a:rPr lang="en-US" sz="2100" b="1" dirty="0">
                <a:solidFill>
                  <a:srgbClr val="1EA44F"/>
                </a:solidFill>
                <a:latin typeface="Segoe UI" pitchFamily="34" charset="0"/>
                <a:ea typeface="Segoe UI" pitchFamily="34" charset="-122"/>
                <a:cs typeface="Segoe UI" pitchFamily="34" charset="-120"/>
              </a:rPr>
              <a:t>$308,827</a:t>
            </a:r>
            <a:endParaRPr lang="en-US" sz="2100" dirty="0"/>
          </a:p>
        </p:txBody>
      </p:sp>
      <p:sp>
        <p:nvSpPr>
          <p:cNvPr id="24" name="Text 21"/>
          <p:cNvSpPr/>
          <p:nvPr/>
        </p:nvSpPr>
        <p:spPr>
          <a:xfrm>
            <a:off x="9454896" y="1929384"/>
            <a:ext cx="2121408" cy="347472"/>
          </a:xfrm>
          <a:prstGeom prst="rect">
            <a:avLst/>
          </a:prstGeom>
          <a:noFill/>
          <a:ln/>
        </p:spPr>
        <p:txBody>
          <a:bodyPr wrap="square" rtlCol="0" anchor="t"/>
          <a:lstStyle/>
          <a:p>
            <a:pPr indent="0" marL="0">
              <a:buNone/>
            </a:pPr>
            <a:r>
              <a:rPr lang="en-US" sz="850" dirty="0">
                <a:solidFill>
                  <a:srgbClr val="849A8F"/>
                </a:solidFill>
                <a:latin typeface="Segoe UI" pitchFamily="34" charset="0"/>
                <a:ea typeface="Segoe UI" pitchFamily="34" charset="-122"/>
                <a:cs typeface="Segoe UI" pitchFamily="34" charset="-120"/>
              </a:rPr>
              <a:t>demand plus avoided energy</a:t>
            </a:r>
            <a:endParaRPr lang="en-US" sz="850" dirty="0"/>
          </a:p>
        </p:txBody>
      </p:sp>
      <p:pic>
        <p:nvPicPr>
          <p:cNvPr id="25" name="Image 1" descr="preencoded.png">    </p:cNvPr>
          <p:cNvPicPr>
            <a:picLocks noChangeAspect="1"/>
          </p:cNvPicPr>
          <p:nvPr/>
        </p:nvPicPr>
        <p:blipFill>
          <a:blip r:embed="rId2"/>
          <a:stretch>
            <a:fillRect/>
          </a:stretch>
        </p:blipFill>
        <p:spPr>
          <a:xfrm>
            <a:off x="457200" y="2578608"/>
            <a:ext cx="5486400" cy="3108960"/>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245352" y="2578608"/>
          <a:ext cx="5486400" cy="914400"/>
        </p:xfrm>
        <a:graphic>
          <a:graphicData uri="http://schemas.openxmlformats.org/drawingml/2006/table">
            <a:tbl>
              <a:tblPr/>
              <a:tblGrid>
                <a:gridCol w="3566160"/>
                <a:gridCol w="1920240"/>
              </a:tblGrid>
              <a:tr h="283464">
                <a:tc>
                  <a:txBody>
                    <a:bodyPr/>
                    <a:lstStyle/>
                    <a:p>
                      <a:pPr indent="0" marL="0">
                        <a:buNone/>
                      </a:pPr>
                      <a:r>
                        <a:rPr lang="en-US" sz="1100" b="1" dirty="0">
                          <a:solidFill>
                            <a:srgbClr val="5A7266"/>
                          </a:solidFill>
                          <a:latin typeface="Segoe UI" pitchFamily="34" charset="0"/>
                          <a:ea typeface="Segoe UI" pitchFamily="34" charset="-122"/>
                          <a:cs typeface="Segoe UI" pitchFamily="34" charset="-120"/>
                        </a:rPr>
                        <a:t>Energy flow</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7F9F8"/>
                    </a:solidFill>
                  </a:tcPr>
                </a:tc>
                <a:tc>
                  <a:txBody>
                    <a:bodyPr/>
                    <a:lstStyle/>
                    <a:p>
                      <a:pPr algn="r" indent="0" marL="0">
                        <a:buNone/>
                      </a:pPr>
                      <a:r>
                        <a:rPr lang="en-US" sz="1100" b="1" dirty="0">
                          <a:solidFill>
                            <a:srgbClr val="5A7266"/>
                          </a:solidFill>
                          <a:latin typeface="Segoe UI" pitchFamily="34" charset="0"/>
                          <a:ea typeface="Segoe UI" pitchFamily="34" charset="-122"/>
                          <a:cs typeface="Segoe UI" pitchFamily="34" charset="-120"/>
                        </a:rPr>
                        <a:t>Per year</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7F9F8"/>
                    </a:solidFill>
                  </a:tcPr>
                </a:tc>
              </a:tr>
              <a:tr h="283464">
                <a:tc>
                  <a:txBody>
                    <a:bodyPr/>
                    <a:lstStyle/>
                    <a:p>
                      <a:pPr indent="0" marL="0">
                        <a:buNone/>
                      </a:pPr>
                      <a:r>
                        <a:rPr lang="en-US" sz="1100" dirty="0">
                          <a:solidFill>
                            <a:srgbClr val="1B201D"/>
                          </a:solidFill>
                          <a:latin typeface="Segoe UI" pitchFamily="34" charset="0"/>
                          <a:ea typeface="Segoe UI" pitchFamily="34" charset="-122"/>
                          <a:cs typeface="Segoe UI" pitchFamily="34" charset="-120"/>
                        </a:rPr>
                        <a:t>Site consumption</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B201D"/>
                          </a:solidFill>
                          <a:latin typeface="Segoe UI" pitchFamily="34" charset="0"/>
                          <a:ea typeface="Segoe UI" pitchFamily="34" charset="-122"/>
                          <a:cs typeface="Segoe UI" pitchFamily="34" charset="-120"/>
                        </a:rPr>
                        <a:t>8.20 GWh</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83464">
                <a:tc>
                  <a:txBody>
                    <a:bodyPr/>
                    <a:lstStyle/>
                    <a:p>
                      <a:pPr indent="0" marL="0">
                        <a:buNone/>
                      </a:pPr>
                      <a:r>
                        <a:rPr lang="en-US" sz="1100" dirty="0">
                          <a:solidFill>
                            <a:srgbClr val="1B201D"/>
                          </a:solidFill>
                          <a:latin typeface="Segoe UI" pitchFamily="34" charset="0"/>
                          <a:ea typeface="Segoe UI" pitchFamily="34" charset="-122"/>
                          <a:cs typeface="Segoe UI" pitchFamily="34" charset="-120"/>
                        </a:rPr>
                        <a:t>Solar generated</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B68403"/>
                          </a:solidFill>
                          <a:latin typeface="Segoe UI" pitchFamily="34" charset="0"/>
                          <a:ea typeface="Segoe UI" pitchFamily="34" charset="-122"/>
                          <a:cs typeface="Segoe UI" pitchFamily="34" charset="-120"/>
                        </a:rPr>
                        <a:t>1.87 GWh</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83464">
                <a:tc>
                  <a:txBody>
                    <a:bodyPr/>
                    <a:lstStyle/>
                    <a:p>
                      <a:pPr indent="0" marL="0">
                        <a:buNone/>
                      </a:pPr>
                      <a:r>
                        <a:rPr lang="en-US" sz="1100" dirty="0">
                          <a:solidFill>
                            <a:srgbClr val="1B201D"/>
                          </a:solidFill>
                          <a:latin typeface="Segoe UI" pitchFamily="34" charset="0"/>
                          <a:ea typeface="Segoe UI" pitchFamily="34" charset="-122"/>
                          <a:cs typeface="Segoe UI" pitchFamily="34" charset="-120"/>
                        </a:rPr>
                        <a:t>Solar used on site</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B68403"/>
                          </a:solidFill>
                          <a:latin typeface="Segoe UI" pitchFamily="34" charset="0"/>
                          <a:ea typeface="Segoe UI" pitchFamily="34" charset="-122"/>
                          <a:cs typeface="Segoe UI" pitchFamily="34" charset="-120"/>
                        </a:rPr>
                        <a:t>1.86 GWh  (100%)</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83464">
                <a:tc>
                  <a:txBody>
                    <a:bodyPr/>
                    <a:lstStyle/>
                    <a:p>
                      <a:pPr indent="0" marL="0">
                        <a:buNone/>
                      </a:pPr>
                      <a:r>
                        <a:rPr lang="en-US" sz="1100" dirty="0">
                          <a:solidFill>
                            <a:srgbClr val="1B201D"/>
                          </a:solidFill>
                          <a:latin typeface="Segoe UI" pitchFamily="34" charset="0"/>
                          <a:ea typeface="Segoe UI" pitchFamily="34" charset="-122"/>
                          <a:cs typeface="Segoe UI" pitchFamily="34" charset="-120"/>
                        </a:rPr>
                        <a:t>Exported to the grid</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5A7266"/>
                          </a:solidFill>
                          <a:latin typeface="Segoe UI" pitchFamily="34" charset="0"/>
                          <a:ea typeface="Segoe UI" pitchFamily="34" charset="-122"/>
                          <a:cs typeface="Segoe UI" pitchFamily="34" charset="-120"/>
                        </a:rPr>
                        <a:t>7 MWh</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83464">
                <a:tc>
                  <a:txBody>
                    <a:bodyPr/>
                    <a:lstStyle/>
                    <a:p>
                      <a:pPr indent="0" marL="0">
                        <a:buNone/>
                      </a:pPr>
                      <a:r>
                        <a:rPr lang="en-US" sz="1100" dirty="0">
                          <a:solidFill>
                            <a:srgbClr val="1B201D"/>
                          </a:solidFill>
                          <a:latin typeface="Segoe UI" pitchFamily="34" charset="0"/>
                          <a:ea typeface="Segoe UI" pitchFamily="34" charset="-122"/>
                          <a:cs typeface="Segoe UI" pitchFamily="34" charset="-120"/>
                        </a:rPr>
                        <a:t>Still imported</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5A7266"/>
                          </a:solidFill>
                          <a:latin typeface="Segoe UI" pitchFamily="34" charset="0"/>
                          <a:ea typeface="Segoe UI" pitchFamily="34" charset="-122"/>
                          <a:cs typeface="Segoe UI" pitchFamily="34" charset="-120"/>
                        </a:rPr>
                        <a:t>6.34 GWh</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83464">
                <a:tc>
                  <a:txBody>
                    <a:bodyPr/>
                    <a:lstStyle/>
                    <a:p>
                      <a:pPr indent="0" marL="0">
                        <a:buNone/>
                      </a:pPr>
                      <a:r>
                        <a:rPr lang="en-US" sz="1100" dirty="0">
                          <a:solidFill>
                            <a:srgbClr val="1B201D"/>
                          </a:solidFill>
                          <a:latin typeface="Segoe UI" pitchFamily="34" charset="0"/>
                          <a:ea typeface="Segoe UI" pitchFamily="34" charset="-122"/>
                          <a:cs typeface="Segoe UI" pitchFamily="34" charset="-120"/>
                        </a:rPr>
                        <a:t>Share of load met by solar</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EA44F"/>
                          </a:solidFill>
                          <a:latin typeface="Segoe UI" pitchFamily="34" charset="0"/>
                          <a:ea typeface="Segoe UI" pitchFamily="34" charset="-122"/>
                          <a:cs typeface="Segoe UI" pitchFamily="34" charset="-120"/>
                        </a:rPr>
                        <a:t>23%</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83464">
                <a:tc>
                  <a:txBody>
                    <a:bodyPr/>
                    <a:lstStyle/>
                    <a:p>
                      <a:pPr indent="0" marL="0">
                        <a:buNone/>
                      </a:pPr>
                      <a:r>
                        <a:rPr lang="en-US" sz="1100" dirty="0">
                          <a:solidFill>
                            <a:srgbClr val="1B201D"/>
                          </a:solidFill>
                          <a:latin typeface="Segoe UI" pitchFamily="34" charset="0"/>
                          <a:ea typeface="Segoe UI" pitchFamily="34" charset="-122"/>
                          <a:cs typeface="Segoe UI" pitchFamily="34" charset="-120"/>
                        </a:rPr>
                        <a:t>Battery discharged</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9877F9"/>
                          </a:solidFill>
                          <a:latin typeface="Segoe UI" pitchFamily="34" charset="0"/>
                          <a:ea typeface="Segoe UI" pitchFamily="34" charset="-122"/>
                          <a:cs typeface="Segoe UI" pitchFamily="34" charset="-120"/>
                        </a:rPr>
                        <a:t>219 MWh</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83464">
                <a:tc>
                  <a:txBody>
                    <a:bodyPr/>
                    <a:lstStyle/>
                    <a:p>
                      <a:pPr indent="0" marL="0">
                        <a:buNone/>
                      </a:pPr>
                      <a:r>
                        <a:rPr lang="en-US" sz="1100" dirty="0">
                          <a:solidFill>
                            <a:srgbClr val="1B201D"/>
                          </a:solidFill>
                          <a:latin typeface="Segoe UI" pitchFamily="34" charset="0"/>
                          <a:ea typeface="Segoe UI" pitchFamily="34" charset="-122"/>
                          <a:cs typeface="Segoe UI" pitchFamily="34" charset="-120"/>
                        </a:rPr>
                        <a:t>Battery charged</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9877F9"/>
                          </a:solidFill>
                          <a:latin typeface="Segoe UI" pitchFamily="34" charset="0"/>
                          <a:ea typeface="Segoe UI" pitchFamily="34" charset="-122"/>
                          <a:cs typeface="Segoe UI" pitchFamily="34" charset="-120"/>
                        </a:rPr>
                        <a:t>249 MWh</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83464">
                <a:tc>
                  <a:txBody>
                    <a:bodyPr/>
                    <a:lstStyle/>
                    <a:p>
                      <a:pPr indent="0" marL="0">
                        <a:buNone/>
                      </a:pPr>
                      <a:r>
                        <a:rPr lang="en-US" sz="1100" dirty="0">
                          <a:solidFill>
                            <a:srgbClr val="1B201D"/>
                          </a:solidFill>
                          <a:latin typeface="Segoe UI" pitchFamily="34" charset="0"/>
                          <a:ea typeface="Segoe UI" pitchFamily="34" charset="-122"/>
                          <a:cs typeface="Segoe UI" pitchFamily="34" charset="-120"/>
                        </a:rPr>
                        <a:t>Full equivalent cycles</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9877F9"/>
                          </a:solidFill>
                          <a:latin typeface="Segoe UI" pitchFamily="34" charset="0"/>
                          <a:ea typeface="Segoe UI" pitchFamily="34" charset="-122"/>
                          <a:cs typeface="Segoe UI" pitchFamily="34" charset="-120"/>
                        </a:rPr>
                        <a:t>58 / yr</a:t>
                      </a:r>
                      <a:endParaRPr lang="en-US" sz="11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bl>
          </a:graphicData>
        </a:graphic>
      </p:graphicFrame>
      <p:sp>
        <p:nvSpPr>
          <p:cNvPr id="27" name="Text 22"/>
          <p:cNvSpPr/>
          <p:nvPr/>
        </p:nvSpPr>
        <p:spPr>
          <a:xfrm>
            <a:off x="457200" y="6053328"/>
            <a:ext cx="11338560" cy="384048"/>
          </a:xfrm>
          <a:prstGeom prst="rect">
            <a:avLst/>
          </a:prstGeom>
          <a:noFill/>
          <a:ln/>
        </p:spPr>
        <p:txBody>
          <a:bodyPr wrap="square" rtlCol="0" anchor="ctr"/>
          <a:lstStyle/>
          <a:p>
            <a:pPr indent="0" marL="0">
              <a:buNone/>
            </a:pPr>
            <a:r>
              <a:rPr lang="en-US" sz="950" i="1" dirty="0">
                <a:solidFill>
                  <a:srgbClr val="5A7266"/>
                </a:solidFill>
                <a:latin typeface="Segoe UI" pitchFamily="34" charset="0"/>
                <a:ea typeface="Segoe UI" pitchFamily="34" charset="-122"/>
                <a:cs typeface="Segoe UI" pitchFamily="34" charset="-120"/>
              </a:rPr>
              <a:t>Demand-charge value only. Capacity payments, ancillary services and energy arbitrage are modelled separately in the Value Stack, and are not added here to avoid counting the same kW twice.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41248"/>
          </a:xfrm>
          <a:prstGeom prst="rect">
            <a:avLst/>
          </a:prstGeom>
          <a:solidFill>
            <a:srgbClr val="F7F9F8"/>
          </a:solidFill>
          <a:ln w="12700">
            <a:solidFill>
              <a:srgbClr val="F7F9F8"/>
            </a:solidFill>
            <a:prstDash val="solid"/>
          </a:ln>
        </p:spPr>
      </p:sp>
      <p:sp>
        <p:nvSpPr>
          <p:cNvPr id="3" name="Shape 1"/>
          <p:cNvSpPr/>
          <p:nvPr/>
        </p:nvSpPr>
        <p:spPr>
          <a:xfrm>
            <a:off x="0" y="841248"/>
            <a:ext cx="12191695" cy="25603"/>
          </a:xfrm>
          <a:prstGeom prst="rect">
            <a:avLst/>
          </a:prstGeom>
          <a:solidFill>
            <a:srgbClr val="008742"/>
          </a:solidFill>
          <a:ln w="12700">
            <a:solidFill>
              <a:srgbClr val="008742"/>
            </a:solidFill>
            <a:prstDash val="solid"/>
          </a:ln>
        </p:spPr>
      </p:sp>
      <p:sp>
        <p:nvSpPr>
          <p:cNvPr id="4" name="Text 2"/>
          <p:cNvSpPr/>
          <p:nvPr/>
        </p:nvSpPr>
        <p:spPr>
          <a:xfrm>
            <a:off x="457200" y="91440"/>
            <a:ext cx="11338560" cy="237744"/>
          </a:xfrm>
          <a:prstGeom prst="rect">
            <a:avLst/>
          </a:prstGeom>
          <a:noFill/>
          <a:ln/>
        </p:spPr>
        <p:txBody>
          <a:bodyPr wrap="square" rtlCol="0" anchor="ctr"/>
          <a:lstStyle/>
          <a:p>
            <a:pPr indent="0" marL="0">
              <a:buNone/>
            </a:pPr>
            <a:r>
              <a:rPr lang="en-US" sz="1000" b="1" spc="160" kern="0" dirty="0">
                <a:solidFill>
                  <a:srgbClr val="008742"/>
                </a:solidFill>
                <a:latin typeface="Consolas" pitchFamily="34" charset="0"/>
                <a:ea typeface="Consolas" pitchFamily="34" charset="-122"/>
                <a:cs typeface="Consolas" pitchFamily="34" charset="-120"/>
              </a:rPr>
              <a:t>METHOD AND ASSUMPTIONS</a:t>
            </a:r>
            <a:endParaRPr lang="en-US" sz="1000" dirty="0"/>
          </a:p>
        </p:txBody>
      </p:sp>
      <p:sp>
        <p:nvSpPr>
          <p:cNvPr id="5" name="Text 3"/>
          <p:cNvSpPr/>
          <p:nvPr/>
        </p:nvSpPr>
        <p:spPr>
          <a:xfrm>
            <a:off x="457200" y="310896"/>
            <a:ext cx="9966960" cy="457200"/>
          </a:xfrm>
          <a:prstGeom prst="rect">
            <a:avLst/>
          </a:prstGeom>
          <a:noFill/>
          <a:ln/>
        </p:spPr>
        <p:txBody>
          <a:bodyPr wrap="square" rtlCol="0" anchor="ctr"/>
          <a:lstStyle/>
          <a:p>
            <a:pPr indent="0" marL="0">
              <a:buNone/>
            </a:pPr>
            <a:r>
              <a:rPr lang="en-US" sz="2300" b="1" dirty="0">
                <a:solidFill>
                  <a:srgbClr val="1B201D"/>
                </a:solidFill>
                <a:latin typeface="Segoe UI" pitchFamily="34" charset="0"/>
                <a:ea typeface="Segoe UI" pitchFamily="34" charset="-122"/>
                <a:cs typeface="Segoe UI" pitchFamily="34" charset="-120"/>
              </a:rPr>
              <a:t>How this number was arrived at</a:t>
            </a:r>
            <a:endParaRPr lang="en-US" sz="2300" dirty="0"/>
          </a:p>
        </p:txBody>
      </p:sp>
      <p:pic>
        <p:nvPicPr>
          <p:cNvPr id="6" name="Image 0" descr="preencoded.png">    </p:cNvPr>
          <p:cNvPicPr>
            <a:picLocks noChangeAspect="1"/>
          </p:cNvPicPr>
          <p:nvPr/>
        </p:nvPicPr>
        <p:blipFill>
          <a:blip r:embed="rId1"/>
          <a:stretch>
            <a:fillRect/>
          </a:stretch>
        </p:blipFill>
        <p:spPr>
          <a:xfrm>
            <a:off x="10561320" y="245059"/>
            <a:ext cx="1170432" cy="351130"/>
          </a:xfrm>
          <a:prstGeom prst="rect">
            <a:avLst/>
          </a:prstGeom>
        </p:spPr>
      </p:pic>
      <p:sp>
        <p:nvSpPr>
          <p:cNvPr id="7" name="Text 4"/>
          <p:cNvSpPr/>
          <p:nvPr/>
        </p:nvSpPr>
        <p:spPr>
          <a:xfrm>
            <a:off x="457200" y="6473952"/>
            <a:ext cx="9601200" cy="274320"/>
          </a:xfrm>
          <a:prstGeom prst="rect">
            <a:avLst/>
          </a:prstGeom>
          <a:noFill/>
          <a:ln/>
        </p:spPr>
        <p:txBody>
          <a:bodyPr wrap="square" rtlCol="0" anchor="ctr"/>
          <a:lstStyle/>
          <a:p>
            <a:pPr indent="0" marL="0">
              <a:buNone/>
            </a:pPr>
            <a:r>
              <a:rPr lang="en-US" sz="850" dirty="0">
                <a:solidFill>
                  <a:srgbClr val="849A8F"/>
                </a:solidFill>
                <a:latin typeface="Segoe UI" pitchFamily="34" charset="0"/>
                <a:ea typeface="Segoe UI" pitchFamily="34" charset="-122"/>
                <a:cs typeface="Segoe UI" pitchFamily="34" charset="-120"/>
              </a:rPr>
              <a:t>NextNRG   ·   1901 Convention Ctr Dr, Miami Beach, FL   ·   8/27/2026</a:t>
            </a:r>
            <a:endParaRPr lang="en-US" sz="850" dirty="0"/>
          </a:p>
        </p:txBody>
      </p:sp>
      <p:sp>
        <p:nvSpPr>
          <p:cNvPr id="8" name="Text 5"/>
          <p:cNvSpPr/>
          <p:nvPr/>
        </p:nvSpPr>
        <p:spPr>
          <a:xfrm>
            <a:off x="11338560" y="6473952"/>
            <a:ext cx="457200" cy="274320"/>
          </a:xfrm>
          <a:prstGeom prst="rect">
            <a:avLst/>
          </a:prstGeom>
          <a:noFill/>
          <a:ln/>
        </p:spPr>
        <p:txBody>
          <a:bodyPr wrap="square" rtlCol="0" anchor="ctr"/>
          <a:lstStyle/>
          <a:p>
            <a:pPr algn="r" indent="0" marL="0">
              <a:buNone/>
            </a:pPr>
            <a:r>
              <a:rPr lang="en-US" sz="850" dirty="0">
                <a:solidFill>
                  <a:srgbClr val="849A8F"/>
                </a:solidFill>
                <a:latin typeface="Segoe UI" pitchFamily="34" charset="0"/>
                <a:ea typeface="Segoe UI" pitchFamily="34" charset="-122"/>
                <a:cs typeface="Segoe UI" pitchFamily="34" charset="-120"/>
              </a:rPr>
              <a:t>10</a:t>
            </a:r>
            <a:endParaRPr lang="en-US" sz="8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70432"/>
          <a:ext cx="11274552" cy="914400"/>
        </p:xfrm>
        <a:graphic>
          <a:graphicData uri="http://schemas.openxmlformats.org/drawingml/2006/table">
            <a:tbl>
              <a:tblPr/>
              <a:tblGrid>
                <a:gridCol w="2377440"/>
                <a:gridCol w="1051560"/>
                <a:gridCol w="7845552"/>
              </a:tblGrid>
              <a:tr h="292608">
                <a:tc>
                  <a:txBody>
                    <a:bodyPr/>
                    <a:lstStyle/>
                    <a:p>
                      <a:pPr indent="0" marL="0">
                        <a:buNone/>
                      </a:pPr>
                      <a:r>
                        <a:rPr lang="en-US" sz="1000" b="1" dirty="0">
                          <a:solidFill>
                            <a:srgbClr val="5A7266"/>
                          </a:solidFill>
                          <a:latin typeface="Segoe UI" pitchFamily="34" charset="0"/>
                          <a:ea typeface="Segoe UI" pitchFamily="34" charset="-122"/>
                          <a:cs typeface="Segoe UI" pitchFamily="34" charset="-120"/>
                        </a:rPr>
                        <a:t>Input</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7F9F8"/>
                    </a:solidFill>
                  </a:tcPr>
                </a:tc>
                <a:tc>
                  <a:txBody>
                    <a:bodyPr/>
                    <a:lstStyle/>
                    <a:p>
                      <a:pPr indent="0" marL="0">
                        <a:buNone/>
                      </a:pPr>
                      <a:r>
                        <a:rPr lang="en-US" sz="1000" b="1" dirty="0">
                          <a:solidFill>
                            <a:srgbClr val="5A7266"/>
                          </a:solidFill>
                          <a:latin typeface="Segoe UI" pitchFamily="34" charset="0"/>
                          <a:ea typeface="Segoe UI" pitchFamily="34" charset="-122"/>
                          <a:cs typeface="Segoe UI" pitchFamily="34" charset="-120"/>
                        </a:rPr>
                        <a:t>Basis</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7F9F8"/>
                    </a:solidFill>
                  </a:tcPr>
                </a:tc>
                <a:tc>
                  <a:txBody>
                    <a:bodyPr/>
                    <a:lstStyle/>
                    <a:p>
                      <a:pPr indent="0" marL="0">
                        <a:buNone/>
                      </a:pPr>
                      <a:r>
                        <a:rPr lang="en-US" sz="1000" b="1" dirty="0">
                          <a:solidFill>
                            <a:srgbClr val="5A7266"/>
                          </a:solidFill>
                          <a:latin typeface="Segoe UI" pitchFamily="34" charset="0"/>
                          <a:ea typeface="Segoe UI" pitchFamily="34" charset="-122"/>
                          <a:cs typeface="Segoe UI" pitchFamily="34" charset="-120"/>
                        </a:rPr>
                        <a:t>Detail</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7F9F8"/>
                    </a:solidFill>
                  </a:tcPr>
                </a:tc>
              </a:tr>
              <a:tr h="292608">
                <a:tc>
                  <a:txBody>
                    <a:bodyPr/>
                    <a:lstStyle/>
                    <a:p>
                      <a:pPr indent="0" marL="0">
                        <a:buNone/>
                      </a:pPr>
                      <a:r>
                        <a:rPr lang="en-US" sz="1050" dirty="0">
                          <a:solidFill>
                            <a:srgbClr val="1B201D"/>
                          </a:solidFill>
                          <a:latin typeface="Segoe UI" pitchFamily="34" charset="0"/>
                          <a:ea typeface="Segoe UI" pitchFamily="34" charset="-122"/>
                          <a:cs typeface="Segoe UI" pitchFamily="34" charset="-120"/>
                        </a:rPr>
                        <a:t>Irradiance</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000" b="1" dirty="0">
                          <a:solidFill>
                            <a:srgbClr val="EA6406"/>
                          </a:solidFill>
                          <a:latin typeface="Segoe UI" pitchFamily="34" charset="0"/>
                          <a:ea typeface="Segoe UI" pitchFamily="34" charset="-122"/>
                          <a:cs typeface="Segoe UI" pitchFamily="34" charset="-120"/>
                        </a:rPr>
                        <a:t>assumed</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950" dirty="0">
                          <a:solidFill>
                            <a:srgbClr val="5A7266"/>
                          </a:solidFill>
                          <a:latin typeface="Segoe UI" pitchFamily="34" charset="0"/>
                          <a:ea typeface="Segoe UI" pitchFamily="34" charset="-122"/>
                          <a:cs typeface="Segoe UI" pitchFamily="34" charset="-120"/>
                        </a:rPr>
                        <a:t>Offline estimate: annual GHI interpolated from published station normals, nearest 6 km away, then split across the months by sun angle. No site-specific weather was reached. Add a free NREL key under Settings › API Keys for a measured answer.</a:t>
                      </a:r>
                      <a:endParaRPr lang="en-US" sz="9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92608">
                <a:tc>
                  <a:txBody>
                    <a:bodyPr/>
                    <a:lstStyle/>
                    <a:p>
                      <a:pPr indent="0" marL="0">
                        <a:buNone/>
                      </a:pPr>
                      <a:r>
                        <a:rPr lang="en-US" sz="1050" dirty="0">
                          <a:solidFill>
                            <a:srgbClr val="1B201D"/>
                          </a:solidFill>
                          <a:latin typeface="Segoe UI" pitchFamily="34" charset="0"/>
                          <a:ea typeface="Segoe UI" pitchFamily="34" charset="-122"/>
                          <a:cs typeface="Segoe UI" pitchFamily="34" charset="-120"/>
                        </a:rPr>
                        <a:t>Weather variability</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000" b="1" dirty="0">
                          <a:solidFill>
                            <a:srgbClr val="0897D7"/>
                          </a:solidFill>
                          <a:latin typeface="Segoe UI" pitchFamily="34" charset="0"/>
                          <a:ea typeface="Segoe UI" pitchFamily="34" charset="-122"/>
                          <a:cs typeface="Segoe UI" pitchFamily="34" charset="-120"/>
                        </a:rPr>
                        <a:t>modelled</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950" dirty="0">
                          <a:solidFill>
                            <a:srgbClr val="5A7266"/>
                          </a:solidFill>
                          <a:latin typeface="Segoe UI" pitchFamily="34" charset="0"/>
                          <a:ea typeface="Segoe UI" pitchFamily="34" charset="-122"/>
                          <a:cs typeface="Segoe UI" pitchFamily="34" charset="-120"/>
                        </a:rPr>
                        <a:t>Daily clearness sampled from the Hollands-Huget distribution about each month’s mean, seeded from the site coordinates so the same site returns the same year.</a:t>
                      </a:r>
                      <a:endParaRPr lang="en-US" sz="9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92608">
                <a:tc>
                  <a:txBody>
                    <a:bodyPr/>
                    <a:lstStyle/>
                    <a:p>
                      <a:pPr indent="0" marL="0">
                        <a:buNone/>
                      </a:pPr>
                      <a:r>
                        <a:rPr lang="en-US" sz="1050" dirty="0">
                          <a:solidFill>
                            <a:srgbClr val="1B201D"/>
                          </a:solidFill>
                          <a:latin typeface="Segoe UI" pitchFamily="34" charset="0"/>
                          <a:ea typeface="Segoe UI" pitchFamily="34" charset="-122"/>
                          <a:cs typeface="Segoe UI" pitchFamily="34" charset="-120"/>
                        </a:rPr>
                        <a:t>Sky model</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000" b="1" dirty="0">
                          <a:solidFill>
                            <a:srgbClr val="0897D7"/>
                          </a:solidFill>
                          <a:latin typeface="Segoe UI" pitchFamily="34" charset="0"/>
                          <a:ea typeface="Segoe UI" pitchFamily="34" charset="-122"/>
                          <a:cs typeface="Segoe UI" pitchFamily="34" charset="-120"/>
                        </a:rPr>
                        <a:t>modelled</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950" dirty="0">
                          <a:solidFill>
                            <a:srgbClr val="5A7266"/>
                          </a:solidFill>
                          <a:latin typeface="Segoe UI" pitchFamily="34" charset="0"/>
                          <a:ea typeface="Segoe UI" pitchFamily="34" charset="-122"/>
                          <a:cs typeface="Segoe UI" pitchFamily="34" charset="-120"/>
                        </a:rPr>
                        <a:t>HDKR anisotropic transposition with ASHRAE incidence-angle modifier. Ground albedo 0.20.</a:t>
                      </a:r>
                      <a:endParaRPr lang="en-US" sz="9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92608">
                <a:tc>
                  <a:txBody>
                    <a:bodyPr/>
                    <a:lstStyle/>
                    <a:p>
                      <a:pPr indent="0" marL="0">
                        <a:buNone/>
                      </a:pPr>
                      <a:r>
                        <a:rPr lang="en-US" sz="1050" dirty="0">
                          <a:solidFill>
                            <a:srgbClr val="1B201D"/>
                          </a:solidFill>
                          <a:latin typeface="Segoe UI" pitchFamily="34" charset="0"/>
                          <a:ea typeface="Segoe UI" pitchFamily="34" charset="-122"/>
                          <a:cs typeface="Segoe UI" pitchFamily="34" charset="-120"/>
                        </a:rPr>
                        <a:t>Ambient temperature</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000" b="1" dirty="0">
                          <a:solidFill>
                            <a:srgbClr val="EA6406"/>
                          </a:solidFill>
                          <a:latin typeface="Segoe UI" pitchFamily="34" charset="0"/>
                          <a:ea typeface="Segoe UI" pitchFamily="34" charset="-122"/>
                          <a:cs typeface="Segoe UI" pitchFamily="34" charset="-120"/>
                        </a:rPr>
                        <a:t>assumed</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950" dirty="0">
                          <a:solidFill>
                            <a:srgbClr val="5A7266"/>
                          </a:solidFill>
                          <a:latin typeface="Segoe UI" pitchFamily="34" charset="0"/>
                          <a:ea typeface="Segoe UI" pitchFamily="34" charset="-122"/>
                          <a:cs typeface="Segoe UI" pitchFamily="34" charset="-120"/>
                        </a:rPr>
                        <a:t>Latitude climatology with an 11 °C diurnal swing. Cell temperature by the Sandia model. This affects the shape more than the total; where PVWatts calibration is applied, the total is corrected.</a:t>
                      </a:r>
                      <a:endParaRPr lang="en-US" sz="9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92608">
                <a:tc>
                  <a:txBody>
                    <a:bodyPr/>
                    <a:lstStyle/>
                    <a:p>
                      <a:pPr indent="0" marL="0">
                        <a:buNone/>
                      </a:pPr>
                      <a:r>
                        <a:rPr lang="en-US" sz="1050" dirty="0">
                          <a:solidFill>
                            <a:srgbClr val="1B201D"/>
                          </a:solidFill>
                          <a:latin typeface="Segoe UI" pitchFamily="34" charset="0"/>
                          <a:ea typeface="Segoe UI" pitchFamily="34" charset="-122"/>
                          <a:cs typeface="Segoe UI" pitchFamily="34" charset="-120"/>
                        </a:rPr>
                        <a:t>DC/AC ratio and clipping</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000" b="1" dirty="0">
                          <a:solidFill>
                            <a:srgbClr val="0897D7"/>
                          </a:solidFill>
                          <a:latin typeface="Segoe UI" pitchFamily="34" charset="0"/>
                          <a:ea typeface="Segoe UI" pitchFamily="34" charset="-122"/>
                          <a:cs typeface="Segoe UI" pitchFamily="34" charset="-120"/>
                        </a:rPr>
                        <a:t>modelled</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950" dirty="0">
                          <a:solidFill>
                            <a:srgbClr val="5A7266"/>
                          </a:solidFill>
                          <a:latin typeface="Segoe UI" pitchFamily="34" charset="0"/>
                          <a:ea typeface="Segoe UI" pitchFamily="34" charset="-122"/>
                          <a:cs typeface="Segoe UI" pitchFamily="34" charset="-120"/>
                        </a:rPr>
                        <a:t>DC/AC 1.25:1. Clipping computed hour by hour: 8,451 kWh/yr, 0.4% of gross.</a:t>
                      </a:r>
                      <a:endParaRPr lang="en-US" sz="9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92608">
                <a:tc>
                  <a:txBody>
                    <a:bodyPr/>
                    <a:lstStyle/>
                    <a:p>
                      <a:pPr indent="0" marL="0">
                        <a:buNone/>
                      </a:pPr>
                      <a:r>
                        <a:rPr lang="en-US" sz="1050" dirty="0">
                          <a:solidFill>
                            <a:srgbClr val="1B201D"/>
                          </a:solidFill>
                          <a:latin typeface="Segoe UI" pitchFamily="34" charset="0"/>
                          <a:ea typeface="Segoe UI" pitchFamily="34" charset="-122"/>
                          <a:cs typeface="Segoe UI" pitchFamily="34" charset="-120"/>
                        </a:rPr>
                        <a:t>System losses</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000" b="1" dirty="0">
                          <a:solidFill>
                            <a:srgbClr val="EA6406"/>
                          </a:solidFill>
                          <a:latin typeface="Segoe UI" pitchFamily="34" charset="0"/>
                          <a:ea typeface="Segoe UI" pitchFamily="34" charset="-122"/>
                          <a:cs typeface="Segoe UI" pitchFamily="34" charset="-120"/>
                        </a:rPr>
                        <a:t>assumed</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950" dirty="0">
                          <a:solidFill>
                            <a:srgbClr val="5A7266"/>
                          </a:solidFill>
                          <a:latin typeface="Segoe UI" pitchFamily="34" charset="0"/>
                          <a:ea typeface="Segoe UI" pitchFamily="34" charset="-122"/>
                          <a:cs typeface="Segoe UI" pitchFamily="34" charset="-120"/>
                        </a:rPr>
                        <a:t>soiling 2.0%, mismatch 2.0%, wiring 2.0%, connections 0.5%, lid 1.5%, nameplate 1.0%, availability 3.0%, shading 3.0%. Each is separate and editable — a single blanket figure hides which one is doing the work.</a:t>
                      </a:r>
                      <a:endParaRPr lang="en-US" sz="9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92608">
                <a:tc>
                  <a:txBody>
                    <a:bodyPr/>
                    <a:lstStyle/>
                    <a:p>
                      <a:pPr indent="0" marL="0">
                        <a:buNone/>
                      </a:pPr>
                      <a:r>
                        <a:rPr lang="en-US" sz="1050" dirty="0">
                          <a:solidFill>
                            <a:srgbClr val="1B201D"/>
                          </a:solidFill>
                          <a:latin typeface="Segoe UI" pitchFamily="34" charset="0"/>
                          <a:ea typeface="Segoe UI" pitchFamily="34" charset="-122"/>
                          <a:cs typeface="Segoe UI" pitchFamily="34" charset="-120"/>
                        </a:rPr>
                        <a:t>Array 1 orientation</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000" b="1" dirty="0">
                          <a:solidFill>
                            <a:srgbClr val="1EA44F"/>
                          </a:solidFill>
                          <a:latin typeface="Segoe UI" pitchFamily="34" charset="0"/>
                          <a:ea typeface="Segoe UI" pitchFamily="34" charset="-122"/>
                          <a:cs typeface="Segoe UI" pitchFamily="34" charset="-120"/>
                        </a:rPr>
                        <a:t>measured</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950" dirty="0">
                          <a:solidFill>
                            <a:srgbClr val="5A7266"/>
                          </a:solidFill>
                          <a:latin typeface="Segoe UI" pitchFamily="34" charset="0"/>
                          <a:ea typeface="Segoe UI" pitchFamily="34" charset="-122"/>
                          <a:cs typeface="Segoe UI" pitchFamily="34" charset="-120"/>
                        </a:rPr>
                        <a:t>Tilt 22° — array properties. Azimuth 180° — derived from row angle 90°.</a:t>
                      </a:r>
                      <a:endParaRPr lang="en-US" sz="9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41248"/>
          </a:xfrm>
          <a:prstGeom prst="rect">
            <a:avLst/>
          </a:prstGeom>
          <a:solidFill>
            <a:srgbClr val="F7F9F8"/>
          </a:solidFill>
          <a:ln w="12700">
            <a:solidFill>
              <a:srgbClr val="F7F9F8"/>
            </a:solidFill>
            <a:prstDash val="solid"/>
          </a:ln>
        </p:spPr>
      </p:sp>
      <p:sp>
        <p:nvSpPr>
          <p:cNvPr id="3" name="Shape 1"/>
          <p:cNvSpPr/>
          <p:nvPr/>
        </p:nvSpPr>
        <p:spPr>
          <a:xfrm>
            <a:off x="0" y="841248"/>
            <a:ext cx="12191695" cy="25603"/>
          </a:xfrm>
          <a:prstGeom prst="rect">
            <a:avLst/>
          </a:prstGeom>
          <a:solidFill>
            <a:srgbClr val="008742"/>
          </a:solidFill>
          <a:ln w="12700">
            <a:solidFill>
              <a:srgbClr val="008742"/>
            </a:solidFill>
            <a:prstDash val="solid"/>
          </a:ln>
        </p:spPr>
      </p:sp>
      <p:sp>
        <p:nvSpPr>
          <p:cNvPr id="4" name="Text 2"/>
          <p:cNvSpPr/>
          <p:nvPr/>
        </p:nvSpPr>
        <p:spPr>
          <a:xfrm>
            <a:off x="457200" y="91440"/>
            <a:ext cx="11338560" cy="237744"/>
          </a:xfrm>
          <a:prstGeom prst="rect">
            <a:avLst/>
          </a:prstGeom>
          <a:noFill/>
          <a:ln/>
        </p:spPr>
        <p:txBody>
          <a:bodyPr wrap="square" rtlCol="0" anchor="ctr"/>
          <a:lstStyle/>
          <a:p>
            <a:pPr indent="0" marL="0">
              <a:buNone/>
            </a:pPr>
            <a:r>
              <a:rPr lang="en-US" sz="1000" b="1" spc="160" kern="0" dirty="0">
                <a:solidFill>
                  <a:srgbClr val="008742"/>
                </a:solidFill>
                <a:latin typeface="Consolas" pitchFamily="34" charset="0"/>
                <a:ea typeface="Consolas" pitchFamily="34" charset="-122"/>
                <a:cs typeface="Consolas" pitchFamily="34" charset="-120"/>
              </a:rPr>
              <a:t>METHOD AND ASSUMPTIONS</a:t>
            </a:r>
            <a:endParaRPr lang="en-US" sz="1000" dirty="0"/>
          </a:p>
        </p:txBody>
      </p:sp>
      <p:sp>
        <p:nvSpPr>
          <p:cNvPr id="5" name="Text 3"/>
          <p:cNvSpPr/>
          <p:nvPr/>
        </p:nvSpPr>
        <p:spPr>
          <a:xfrm>
            <a:off x="457200" y="310896"/>
            <a:ext cx="9966960" cy="457200"/>
          </a:xfrm>
          <a:prstGeom prst="rect">
            <a:avLst/>
          </a:prstGeom>
          <a:noFill/>
          <a:ln/>
        </p:spPr>
        <p:txBody>
          <a:bodyPr wrap="square" rtlCol="0" anchor="ctr"/>
          <a:lstStyle/>
          <a:p>
            <a:pPr indent="0" marL="0">
              <a:buNone/>
            </a:pPr>
            <a:r>
              <a:rPr lang="en-US" sz="2300" b="1" dirty="0">
                <a:solidFill>
                  <a:srgbClr val="1B201D"/>
                </a:solidFill>
                <a:latin typeface="Segoe UI" pitchFamily="34" charset="0"/>
                <a:ea typeface="Segoe UI" pitchFamily="34" charset="-122"/>
                <a:cs typeface="Segoe UI" pitchFamily="34" charset="-120"/>
              </a:rPr>
              <a:t>How this number was arrived at (continued)</a:t>
            </a:r>
            <a:endParaRPr lang="en-US" sz="2300" dirty="0"/>
          </a:p>
        </p:txBody>
      </p:sp>
      <p:pic>
        <p:nvPicPr>
          <p:cNvPr id="6" name="Image 0" descr="preencoded.png">    </p:cNvPr>
          <p:cNvPicPr>
            <a:picLocks noChangeAspect="1"/>
          </p:cNvPicPr>
          <p:nvPr/>
        </p:nvPicPr>
        <p:blipFill>
          <a:blip r:embed="rId1"/>
          <a:stretch>
            <a:fillRect/>
          </a:stretch>
        </p:blipFill>
        <p:spPr>
          <a:xfrm>
            <a:off x="10561320" y="245059"/>
            <a:ext cx="1170432" cy="351130"/>
          </a:xfrm>
          <a:prstGeom prst="rect">
            <a:avLst/>
          </a:prstGeom>
        </p:spPr>
      </p:pic>
      <p:sp>
        <p:nvSpPr>
          <p:cNvPr id="7" name="Text 4"/>
          <p:cNvSpPr/>
          <p:nvPr/>
        </p:nvSpPr>
        <p:spPr>
          <a:xfrm>
            <a:off x="457200" y="6473952"/>
            <a:ext cx="9601200" cy="274320"/>
          </a:xfrm>
          <a:prstGeom prst="rect">
            <a:avLst/>
          </a:prstGeom>
          <a:noFill/>
          <a:ln/>
        </p:spPr>
        <p:txBody>
          <a:bodyPr wrap="square" rtlCol="0" anchor="ctr"/>
          <a:lstStyle/>
          <a:p>
            <a:pPr indent="0" marL="0">
              <a:buNone/>
            </a:pPr>
            <a:r>
              <a:rPr lang="en-US" sz="850" dirty="0">
                <a:solidFill>
                  <a:srgbClr val="849A8F"/>
                </a:solidFill>
                <a:latin typeface="Segoe UI" pitchFamily="34" charset="0"/>
                <a:ea typeface="Segoe UI" pitchFamily="34" charset="-122"/>
                <a:cs typeface="Segoe UI" pitchFamily="34" charset="-120"/>
              </a:rPr>
              <a:t>NextNRG   ·   1901 Convention Ctr Dr, Miami Beach, FL   ·   8/27/2026</a:t>
            </a:r>
            <a:endParaRPr lang="en-US" sz="850" dirty="0"/>
          </a:p>
        </p:txBody>
      </p:sp>
      <p:sp>
        <p:nvSpPr>
          <p:cNvPr id="8" name="Text 5"/>
          <p:cNvSpPr/>
          <p:nvPr/>
        </p:nvSpPr>
        <p:spPr>
          <a:xfrm>
            <a:off x="11338560" y="6473952"/>
            <a:ext cx="457200" cy="274320"/>
          </a:xfrm>
          <a:prstGeom prst="rect">
            <a:avLst/>
          </a:prstGeom>
          <a:noFill/>
          <a:ln/>
        </p:spPr>
        <p:txBody>
          <a:bodyPr wrap="square" rtlCol="0" anchor="ctr"/>
          <a:lstStyle/>
          <a:p>
            <a:pPr algn="r" indent="0" marL="0">
              <a:buNone/>
            </a:pPr>
            <a:r>
              <a:rPr lang="en-US" sz="850" dirty="0">
                <a:solidFill>
                  <a:srgbClr val="849A8F"/>
                </a:solidFill>
                <a:latin typeface="Segoe UI" pitchFamily="34" charset="0"/>
                <a:ea typeface="Segoe UI" pitchFamily="34" charset="-122"/>
                <a:cs typeface="Segoe UI" pitchFamily="34" charset="-120"/>
              </a:rPr>
              <a:t>11</a:t>
            </a:r>
            <a:endParaRPr lang="en-US" sz="8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70432"/>
          <a:ext cx="11274552" cy="914400"/>
        </p:xfrm>
        <a:graphic>
          <a:graphicData uri="http://schemas.openxmlformats.org/drawingml/2006/table">
            <a:tbl>
              <a:tblPr/>
              <a:tblGrid>
                <a:gridCol w="2377440"/>
                <a:gridCol w="1051560"/>
                <a:gridCol w="7845552"/>
              </a:tblGrid>
              <a:tr h="292608">
                <a:tc>
                  <a:txBody>
                    <a:bodyPr/>
                    <a:lstStyle/>
                    <a:p>
                      <a:pPr indent="0" marL="0">
                        <a:buNone/>
                      </a:pPr>
                      <a:r>
                        <a:rPr lang="en-US" sz="1000" b="1" dirty="0">
                          <a:solidFill>
                            <a:srgbClr val="5A7266"/>
                          </a:solidFill>
                          <a:latin typeface="Segoe UI" pitchFamily="34" charset="0"/>
                          <a:ea typeface="Segoe UI" pitchFamily="34" charset="-122"/>
                          <a:cs typeface="Segoe UI" pitchFamily="34" charset="-120"/>
                        </a:rPr>
                        <a:t>Input</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7F9F8"/>
                    </a:solidFill>
                  </a:tcPr>
                </a:tc>
                <a:tc>
                  <a:txBody>
                    <a:bodyPr/>
                    <a:lstStyle/>
                    <a:p>
                      <a:pPr indent="0" marL="0">
                        <a:buNone/>
                      </a:pPr>
                      <a:r>
                        <a:rPr lang="en-US" sz="1000" b="1" dirty="0">
                          <a:solidFill>
                            <a:srgbClr val="5A7266"/>
                          </a:solidFill>
                          <a:latin typeface="Segoe UI" pitchFamily="34" charset="0"/>
                          <a:ea typeface="Segoe UI" pitchFamily="34" charset="-122"/>
                          <a:cs typeface="Segoe UI" pitchFamily="34" charset="-120"/>
                        </a:rPr>
                        <a:t>Basis</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7F9F8"/>
                    </a:solidFill>
                  </a:tcPr>
                </a:tc>
                <a:tc>
                  <a:txBody>
                    <a:bodyPr/>
                    <a:lstStyle/>
                    <a:p>
                      <a:pPr indent="0" marL="0">
                        <a:buNone/>
                      </a:pPr>
                      <a:r>
                        <a:rPr lang="en-US" sz="1000" b="1" dirty="0">
                          <a:solidFill>
                            <a:srgbClr val="5A7266"/>
                          </a:solidFill>
                          <a:latin typeface="Segoe UI" pitchFamily="34" charset="0"/>
                          <a:ea typeface="Segoe UI" pitchFamily="34" charset="-122"/>
                          <a:cs typeface="Segoe UI" pitchFamily="34" charset="-120"/>
                        </a:rPr>
                        <a:t>Detail</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7F9F8"/>
                    </a:solidFill>
                  </a:tcPr>
                </a:tc>
              </a:tr>
              <a:tr h="292608">
                <a:tc>
                  <a:txBody>
                    <a:bodyPr/>
                    <a:lstStyle/>
                    <a:p>
                      <a:pPr indent="0" marL="0">
                        <a:buNone/>
                      </a:pPr>
                      <a:r>
                        <a:rPr lang="en-US" sz="1050" dirty="0">
                          <a:solidFill>
                            <a:srgbClr val="1B201D"/>
                          </a:solidFill>
                          <a:latin typeface="Segoe UI" pitchFamily="34" charset="0"/>
                          <a:ea typeface="Segoe UI" pitchFamily="34" charset="-122"/>
                          <a:cs typeface="Segoe UI" pitchFamily="34" charset="-120"/>
                        </a:rPr>
                        <a:t>Array 2 orientation</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000" b="1" dirty="0">
                          <a:solidFill>
                            <a:srgbClr val="1EA44F"/>
                          </a:solidFill>
                          <a:latin typeface="Segoe UI" pitchFamily="34" charset="0"/>
                          <a:ea typeface="Segoe UI" pitchFamily="34" charset="-122"/>
                          <a:cs typeface="Segoe UI" pitchFamily="34" charset="-120"/>
                        </a:rPr>
                        <a:t>measured</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950" dirty="0">
                          <a:solidFill>
                            <a:srgbClr val="5A7266"/>
                          </a:solidFill>
                          <a:latin typeface="Segoe UI" pitchFamily="34" charset="0"/>
                          <a:ea typeface="Segoe UI" pitchFamily="34" charset="-122"/>
                          <a:cs typeface="Segoe UI" pitchFamily="34" charset="-120"/>
                        </a:rPr>
                        <a:t>Tilt 8° — array properties. Azimuth 180° — derived from row angle 90°.</a:t>
                      </a:r>
                      <a:endParaRPr lang="en-US" sz="9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92608">
                <a:tc>
                  <a:txBody>
                    <a:bodyPr/>
                    <a:lstStyle/>
                    <a:p>
                      <a:pPr indent="0" marL="0">
                        <a:buNone/>
                      </a:pPr>
                      <a:r>
                        <a:rPr lang="en-US" sz="1050" dirty="0">
                          <a:solidFill>
                            <a:srgbClr val="1B201D"/>
                          </a:solidFill>
                          <a:latin typeface="Segoe UI" pitchFamily="34" charset="0"/>
                          <a:ea typeface="Segoe UI" pitchFamily="34" charset="-122"/>
                          <a:cs typeface="Segoe UI" pitchFamily="34" charset="-120"/>
                        </a:rPr>
                        <a:t>Load profile</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000" b="1" dirty="0">
                          <a:solidFill>
                            <a:srgbClr val="EA6406"/>
                          </a:solidFill>
                          <a:latin typeface="Segoe UI" pitchFamily="34" charset="0"/>
                          <a:ea typeface="Segoe UI" pitchFamily="34" charset="-122"/>
                          <a:cs typeface="Segoe UI" pitchFamily="34" charset="-120"/>
                        </a:rPr>
                        <a:t>assumed</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950" dirty="0">
                          <a:solidFill>
                            <a:srgbClr val="5A7266"/>
                          </a:solidFill>
                          <a:latin typeface="Segoe UI" pitchFamily="34" charset="0"/>
                          <a:ea typeface="Segoe UI" pitchFamily="34" charset="-122"/>
                          <a:cs typeface="Segoe UI" pitchFamily="34" charset="-120"/>
                        </a:rPr>
                        <a:t>Shape synthesised from a 1,800 kW peak and a 52% load factor. A synthesised shape cannot tell you when your real peak falls, which is the thing demand shaving turns on. Import interval data before relying on the savings figure.</a:t>
                      </a:r>
                      <a:endParaRPr lang="en-US" sz="9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92608">
                <a:tc>
                  <a:txBody>
                    <a:bodyPr/>
                    <a:lstStyle/>
                    <a:p>
                      <a:pPr indent="0" marL="0">
                        <a:buNone/>
                      </a:pPr>
                      <a:r>
                        <a:rPr lang="en-US" sz="1050" dirty="0">
                          <a:solidFill>
                            <a:srgbClr val="1B201D"/>
                          </a:solidFill>
                          <a:latin typeface="Segoe UI" pitchFamily="34" charset="0"/>
                          <a:ea typeface="Segoe UI" pitchFamily="34" charset="-122"/>
                          <a:cs typeface="Segoe UI" pitchFamily="34" charset="-120"/>
                        </a:rPr>
                        <a:t>Demand charge</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000" b="1" dirty="0">
                          <a:solidFill>
                            <a:srgbClr val="1EA44F"/>
                          </a:solidFill>
                          <a:latin typeface="Segoe UI" pitchFamily="34" charset="0"/>
                          <a:ea typeface="Segoe UI" pitchFamily="34" charset="-122"/>
                          <a:cs typeface="Segoe UI" pitchFamily="34" charset="-120"/>
                        </a:rPr>
                        <a:t>measured</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950" dirty="0">
                          <a:solidFill>
                            <a:srgbClr val="5A7266"/>
                          </a:solidFill>
                          <a:latin typeface="Segoe UI" pitchFamily="34" charset="0"/>
                          <a:ea typeface="Segoe UI" pitchFamily="34" charset="-122"/>
                          <a:cs typeface="Segoe UI" pitchFamily="34" charset="-120"/>
                        </a:rPr>
                        <a:t>$16.50/kW-month — imported bill.</a:t>
                      </a:r>
                      <a:endParaRPr lang="en-US" sz="9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92608">
                <a:tc>
                  <a:txBody>
                    <a:bodyPr/>
                    <a:lstStyle/>
                    <a:p>
                      <a:pPr indent="0" marL="0">
                        <a:buNone/>
                      </a:pPr>
                      <a:r>
                        <a:rPr lang="en-US" sz="1050" dirty="0">
                          <a:solidFill>
                            <a:srgbClr val="1B201D"/>
                          </a:solidFill>
                          <a:latin typeface="Segoe UI" pitchFamily="34" charset="0"/>
                          <a:ea typeface="Segoe UI" pitchFamily="34" charset="-122"/>
                          <a:cs typeface="Segoe UI" pitchFamily="34" charset="-120"/>
                        </a:rPr>
                        <a:t>Battery dispatch</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000" b="1" dirty="0">
                          <a:solidFill>
                            <a:srgbClr val="0897D7"/>
                          </a:solidFill>
                          <a:latin typeface="Segoe UI" pitchFamily="34" charset="0"/>
                          <a:ea typeface="Segoe UI" pitchFamily="34" charset="-122"/>
                          <a:cs typeface="Segoe UI" pitchFamily="34" charset="-120"/>
                        </a:rPr>
                        <a:t>modelled</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950" dirty="0">
                          <a:solidFill>
                            <a:srgbClr val="5A7266"/>
                          </a:solidFill>
                          <a:latin typeface="Segoe UI" pitchFamily="34" charset="0"/>
                          <a:ea typeface="Segoe UI" pitchFamily="34" charset="-122"/>
                          <a:cs typeface="Segoe UI" pitchFamily="34" charset="-120"/>
                        </a:rPr>
                        <a:t>Lowest holdable monthly threshold found by bisection with state of charge tracked hour by hour. Round-trip 88%, depth of discharge 95%. Charging is confined to the headroom below the threshold so it cannot set a new peak.</a:t>
                      </a:r>
                      <a:endParaRPr lang="en-US" sz="9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r h="292608">
                <a:tc>
                  <a:txBody>
                    <a:bodyPr/>
                    <a:lstStyle/>
                    <a:p>
                      <a:pPr indent="0" marL="0">
                        <a:buNone/>
                      </a:pPr>
                      <a:r>
                        <a:rPr lang="en-US" sz="1050" dirty="0">
                          <a:solidFill>
                            <a:srgbClr val="1B201D"/>
                          </a:solidFill>
                          <a:latin typeface="Segoe UI" pitchFamily="34" charset="0"/>
                          <a:ea typeface="Segoe UI" pitchFamily="34" charset="-122"/>
                          <a:cs typeface="Segoe UI" pitchFamily="34" charset="-120"/>
                        </a:rPr>
                        <a:t>What this is not</a:t>
                      </a:r>
                      <a:endParaRPr lang="en-US" sz="10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1000" b="1" dirty="0">
                          <a:solidFill>
                            <a:srgbClr val="5A7266"/>
                          </a:solidFill>
                          <a:latin typeface="Segoe UI" pitchFamily="34" charset="0"/>
                          <a:ea typeface="Segoe UI" pitchFamily="34" charset="-122"/>
                          <a:cs typeface="Segoe UI" pitchFamily="34" charset="-120"/>
                        </a:rPr>
                        <a:t>note</a:t>
                      </a:r>
                      <a:endParaRPr lang="en-US" sz="100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c>
                  <a:txBody>
                    <a:bodyPr/>
                    <a:lstStyle/>
                    <a:p>
                      <a:pPr indent="0" marL="0">
                        <a:buNone/>
                      </a:pPr>
                      <a:r>
                        <a:rPr lang="en-US" sz="950" dirty="0">
                          <a:solidFill>
                            <a:srgbClr val="5A7266"/>
                          </a:solidFill>
                          <a:latin typeface="Segoe UI" pitchFamily="34" charset="0"/>
                          <a:ea typeface="Segoe UI" pitchFamily="34" charset="-122"/>
                          <a:cs typeface="Segoe UI" pitchFamily="34" charset="-120"/>
                        </a:rPr>
                        <a:t>A planning model, not a bankable energy assessment. Degradation, curtailment, snow, and interconnection limits are not modelled. An independent engineer’s P50/P90 study is what a lender will ask for.</a:t>
                      </a:r>
                      <a:endParaRPr lang="en-US" sz="950" dirty="0">
                        <a:latin typeface="Segoe UI" charset="0"/>
                        <a:ea typeface="Segoe UI" charset="0"/>
                        <a:cs typeface="Segoe UI" charset="0"/>
                      </a:endParaRPr>
                    </a:p>
                  </a:txBody>
                  <a:tcPr marL="91440" marR="91440" marT="45720" marB="45720" anchor="ctr">
                    <a:lnL w="6350" cap="flat" cmpd="sng" algn="ctr">
                      <a:solidFill>
                        <a:srgbClr val="DFE8E3"/>
                      </a:solidFill>
                      <a:prstDash val="solid"/>
                      <a:round/>
                      <a:headEnd type="none" w="med" len="med"/>
                      <a:tailEnd type="none" w="med" len="med"/>
                    </a:lnL>
                    <a:lnR w="6350" cap="flat" cmpd="sng" algn="ctr">
                      <a:solidFill>
                        <a:srgbClr val="DFE8E3"/>
                      </a:solidFill>
                      <a:prstDash val="solid"/>
                      <a:round/>
                      <a:headEnd type="none" w="med" len="med"/>
                      <a:tailEnd type="none" w="med" len="med"/>
                    </a:lnR>
                    <a:lnT w="6350" cap="flat" cmpd="sng" algn="ctr">
                      <a:solidFill>
                        <a:srgbClr val="DFE8E3"/>
                      </a:solidFill>
                      <a:prstDash val="solid"/>
                      <a:round/>
                      <a:headEnd type="none" w="med" len="med"/>
                      <a:tailEnd type="none" w="med" len="med"/>
                    </a:lnT>
                    <a:lnB w="6350" cap="flat" cmpd="sng" algn="ctr">
                      <a:solidFill>
                        <a:srgbClr val="DFE8E3"/>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DER generation and storage analysis</dc:title>
  <dc:subject>PptxGenJS Presentation</dc:subject>
  <dc:creator>ClearSky OMEGA</dc:creator>
  <cp:lastModifiedBy>ClearSky OMEGA</cp:lastModifiedBy>
  <cp:revision>1</cp:revision>
  <dcterms:created xsi:type="dcterms:W3CDTF">2026-08-27T13:43:35Z</dcterms:created>
  <dcterms:modified xsi:type="dcterms:W3CDTF">2026-08-27T13:43:35Z</dcterms:modified>
</cp:coreProperties>
</file>